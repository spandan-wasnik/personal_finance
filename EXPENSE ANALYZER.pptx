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libri (MS)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alibri (MS) Italics" panose="020B0604020202020204" charset="0"/>
      <p:regular r:id="rId19"/>
    </p:embeddedFont>
    <p:embeddedFont>
      <p:font typeface="Calibri (MS) Bold" panose="020B0604020202020204" charset="0"/>
      <p:regular r:id="rId20"/>
    </p:embeddedFont>
    <p:embeddedFont>
      <p:font typeface="Cambria Bold" panose="02040803050406030204" pitchFamily="18" charset="0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46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21.09.2026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3.png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67360" y="-2468880"/>
            <a:ext cx="7132320" cy="7132320"/>
            <a:chOff x="0" y="0"/>
            <a:chExt cx="9509760" cy="95097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09760" cy="9509760"/>
            </a:xfrm>
            <a:custGeom>
              <a:avLst/>
              <a:gdLst/>
              <a:ahLst/>
              <a:cxnLst/>
              <a:rect l="l" t="t" r="r" b="b"/>
              <a:pathLst>
                <a:path w="9509760" h="9509760">
                  <a:moveTo>
                    <a:pt x="0" y="4754880"/>
                  </a:moveTo>
                  <a:cubicBezTo>
                    <a:pt x="0" y="2128774"/>
                    <a:pt x="2128774" y="0"/>
                    <a:pt x="4754880" y="0"/>
                  </a:cubicBezTo>
                  <a:cubicBezTo>
                    <a:pt x="7380986" y="0"/>
                    <a:pt x="9509760" y="2128774"/>
                    <a:pt x="9509760" y="4754880"/>
                  </a:cubicBezTo>
                  <a:cubicBezTo>
                    <a:pt x="9509760" y="7380986"/>
                    <a:pt x="7380986" y="9509760"/>
                    <a:pt x="4754880" y="9509760"/>
                  </a:cubicBezTo>
                  <a:cubicBezTo>
                    <a:pt x="2128774" y="9509760"/>
                    <a:pt x="0" y="7380986"/>
                    <a:pt x="0" y="4754880"/>
                  </a:cubicBezTo>
                  <a:close/>
                </a:path>
              </a:pathLst>
            </a:custGeom>
            <a:solidFill>
              <a:srgbClr val="1C7293">
                <a:alpha val="4706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361920" y="6309360"/>
            <a:ext cx="4663440" cy="4663440"/>
            <a:chOff x="0" y="0"/>
            <a:chExt cx="6217920" cy="62179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217920" cy="6217920"/>
            </a:xfrm>
            <a:custGeom>
              <a:avLst/>
              <a:gdLst/>
              <a:ahLst/>
              <a:cxnLst/>
              <a:rect l="l" t="t" r="r" b="b"/>
              <a:pathLst>
                <a:path w="6217920" h="6217920">
                  <a:moveTo>
                    <a:pt x="0" y="3108960"/>
                  </a:moveTo>
                  <a:cubicBezTo>
                    <a:pt x="0" y="1391920"/>
                    <a:pt x="1391920" y="0"/>
                    <a:pt x="3108960" y="0"/>
                  </a:cubicBezTo>
                  <a:cubicBezTo>
                    <a:pt x="4826000" y="0"/>
                    <a:pt x="6217920" y="1391920"/>
                    <a:pt x="6217920" y="3108960"/>
                  </a:cubicBezTo>
                  <a:cubicBezTo>
                    <a:pt x="6217920" y="4826000"/>
                    <a:pt x="4826000" y="6217920"/>
                    <a:pt x="3108960" y="6217920"/>
                  </a:cubicBezTo>
                  <a:cubicBezTo>
                    <a:pt x="1391920" y="6217920"/>
                    <a:pt x="0" y="4826000"/>
                    <a:pt x="0" y="3108960"/>
                  </a:cubicBezTo>
                  <a:close/>
                </a:path>
              </a:pathLst>
            </a:custGeom>
            <a:solidFill>
              <a:srgbClr val="02C39A">
                <a:alpha val="3137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-1920240" y="7406640"/>
            <a:ext cx="4937760" cy="4937760"/>
            <a:chOff x="0" y="0"/>
            <a:chExt cx="6583680" cy="65836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583680" cy="6583680"/>
            </a:xfrm>
            <a:custGeom>
              <a:avLst/>
              <a:gdLst/>
              <a:ahLst/>
              <a:cxnLst/>
              <a:rect l="l" t="t" r="r" b="b"/>
              <a:pathLst>
                <a:path w="6583680" h="6583680">
                  <a:moveTo>
                    <a:pt x="0" y="3291840"/>
                  </a:moveTo>
                  <a:cubicBezTo>
                    <a:pt x="0" y="1473835"/>
                    <a:pt x="1473835" y="0"/>
                    <a:pt x="3291840" y="0"/>
                  </a:cubicBezTo>
                  <a:cubicBezTo>
                    <a:pt x="5109845" y="0"/>
                    <a:pt x="6583680" y="1473835"/>
                    <a:pt x="6583680" y="3291840"/>
                  </a:cubicBezTo>
                  <a:cubicBezTo>
                    <a:pt x="6583680" y="5109845"/>
                    <a:pt x="5109845" y="6583680"/>
                    <a:pt x="3291840" y="6583680"/>
                  </a:cubicBezTo>
                  <a:cubicBezTo>
                    <a:pt x="1473835" y="6583680"/>
                    <a:pt x="0" y="5109845"/>
                    <a:pt x="0" y="3291840"/>
                  </a:cubicBezTo>
                  <a:close/>
                </a:path>
              </a:pathLst>
            </a:custGeom>
            <a:solidFill>
              <a:srgbClr val="1C7293">
                <a:alpha val="1961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960120" y="891540"/>
            <a:ext cx="1303020" cy="1303020"/>
            <a:chOff x="0" y="0"/>
            <a:chExt cx="1737360" cy="17373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37360" cy="1737360"/>
            </a:xfrm>
            <a:custGeom>
              <a:avLst/>
              <a:gdLst/>
              <a:ahLst/>
              <a:cxnLst/>
              <a:rect l="l" t="t" r="r" b="b"/>
              <a:pathLst>
                <a:path w="1737360" h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FFFFFF">
                <a:alpha val="1176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285875" y="1217295"/>
            <a:ext cx="651510" cy="651510"/>
            <a:chOff x="0" y="0"/>
            <a:chExt cx="868680" cy="868680"/>
          </a:xfrm>
        </p:grpSpPr>
        <p:sp>
          <p:nvSpPr>
            <p:cNvPr id="11" name="Freeform 11" descr="/home/claude/finance_ppt/icons/wallet_mint.png"/>
            <p:cNvSpPr/>
            <p:nvPr/>
          </p:nvSpPr>
          <p:spPr>
            <a:xfrm>
              <a:off x="0" y="0"/>
              <a:ext cx="868680" cy="868680"/>
            </a:xfrm>
            <a:custGeom>
              <a:avLst/>
              <a:gdLst/>
              <a:ahLst/>
              <a:cxnLst/>
              <a:rect l="l" t="t" r="r" b="b"/>
              <a:pathLst>
                <a:path w="868680" h="868680">
                  <a:moveTo>
                    <a:pt x="0" y="0"/>
                  </a:moveTo>
                  <a:lnTo>
                    <a:pt x="868680" y="0"/>
                  </a:lnTo>
                  <a:lnTo>
                    <a:pt x="868680" y="868680"/>
                  </a:lnTo>
                  <a:lnTo>
                    <a:pt x="0" y="868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950595" y="2445091"/>
            <a:ext cx="14401800" cy="1783080"/>
            <a:chOff x="0" y="0"/>
            <a:chExt cx="19202400" cy="23774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202400" cy="2377440"/>
            </a:xfrm>
            <a:custGeom>
              <a:avLst/>
              <a:gdLst/>
              <a:ahLst/>
              <a:cxnLst/>
              <a:rect l="l" t="t" r="r" b="b"/>
              <a:pathLst>
                <a:path w="19202400" h="2377440">
                  <a:moveTo>
                    <a:pt x="0" y="0"/>
                  </a:moveTo>
                  <a:lnTo>
                    <a:pt x="19202400" y="0"/>
                  </a:lnTo>
                  <a:lnTo>
                    <a:pt x="192024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7379" b="-107379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9202400" cy="2434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938"/>
                </a:lnSpc>
              </a:pPr>
              <a:r>
                <a:rPr lang="en-US" sz="63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PERSONAL FINANCE EXPENSE ANALYZER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60120" y="4475821"/>
            <a:ext cx="13716000" cy="685800"/>
            <a:chOff x="0" y="0"/>
            <a:chExt cx="18288000" cy="914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288000" cy="914400"/>
            </a:xfrm>
            <a:custGeom>
              <a:avLst/>
              <a:gdLst/>
              <a:ahLst/>
              <a:cxnLst/>
              <a:rect l="l" t="t" r="r" b="b"/>
              <a:pathLst>
                <a:path w="18288000" h="914400">
                  <a:moveTo>
                    <a:pt x="0" y="0"/>
                  </a:moveTo>
                  <a:lnTo>
                    <a:pt x="18288000" y="0"/>
                  </a:lnTo>
                  <a:lnTo>
                    <a:pt x="18288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8288000" cy="971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i="1">
                  <a:solidFill>
                    <a:srgbClr val="CADCE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Track Spending  •  Predict Future  •  Protect Savings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50595" y="5161621"/>
            <a:ext cx="11814810" cy="1322070"/>
            <a:chOff x="0" y="0"/>
            <a:chExt cx="15753080" cy="176276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753080" cy="1762760"/>
            </a:xfrm>
            <a:custGeom>
              <a:avLst/>
              <a:gdLst/>
              <a:ahLst/>
              <a:cxnLst/>
              <a:rect l="l" t="t" r="r" b="b"/>
              <a:pathLst>
                <a:path w="15753080" h="1762760">
                  <a:moveTo>
                    <a:pt x="0" y="185547"/>
                  </a:moveTo>
                  <a:cubicBezTo>
                    <a:pt x="0" y="83058"/>
                    <a:pt x="83058" y="0"/>
                    <a:pt x="185547" y="0"/>
                  </a:cubicBezTo>
                  <a:lnTo>
                    <a:pt x="15567533" y="0"/>
                  </a:lnTo>
                  <a:cubicBezTo>
                    <a:pt x="15670022" y="0"/>
                    <a:pt x="15753080" y="83058"/>
                    <a:pt x="15753080" y="185547"/>
                  </a:cubicBezTo>
                  <a:lnTo>
                    <a:pt x="15753080" y="1577213"/>
                  </a:lnTo>
                  <a:cubicBezTo>
                    <a:pt x="15753080" y="1679702"/>
                    <a:pt x="15670022" y="1762760"/>
                    <a:pt x="15567533" y="1762760"/>
                  </a:cubicBezTo>
                  <a:lnTo>
                    <a:pt x="185547" y="1762760"/>
                  </a:lnTo>
                  <a:cubicBezTo>
                    <a:pt x="83058" y="1762760"/>
                    <a:pt x="0" y="1679702"/>
                    <a:pt x="0" y="1577213"/>
                  </a:cubicBezTo>
                  <a:close/>
                </a:path>
              </a:pathLst>
            </a:custGeom>
            <a:solidFill>
              <a:srgbClr val="FFFFFF">
                <a:alpha val="392"/>
              </a:srgbClr>
            </a:solidFill>
            <a:ln w="19050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028700" y="5143500"/>
            <a:ext cx="11109960" cy="1303020"/>
            <a:chOff x="0" y="0"/>
            <a:chExt cx="14813280" cy="17373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813280" cy="1737360"/>
            </a:xfrm>
            <a:custGeom>
              <a:avLst/>
              <a:gdLst/>
              <a:ahLst/>
              <a:cxnLst/>
              <a:rect l="l" t="t" r="r" b="b"/>
              <a:pathLst>
                <a:path w="14813280" h="1737360">
                  <a:moveTo>
                    <a:pt x="0" y="0"/>
                  </a:moveTo>
                  <a:lnTo>
                    <a:pt x="14813280" y="0"/>
                  </a:lnTo>
                  <a:lnTo>
                    <a:pt x="148132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6135" b="-116135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4813280" cy="1794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Main Goal:  </a:t>
              </a:r>
              <a:r>
                <a:rPr lang="en-US" sz="22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 Spending, Prevent Overspending, Protect Savings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933450" y="6724345"/>
            <a:ext cx="4068273" cy="1916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  <a:spcBef>
                <a:spcPct val="0"/>
              </a:spcBef>
            </a:pPr>
            <a:r>
              <a:rPr lang="en-US" sz="2399" b="1">
                <a:solidFill>
                  <a:srgbClr val="02C3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STUDENT NAME</a:t>
            </a:r>
          </a:p>
          <a:p>
            <a:pPr algn="l">
              <a:lnSpc>
                <a:spcPts val="2937"/>
              </a:lnSpc>
            </a:pPr>
            <a:r>
              <a:rPr lang="en-US" sz="23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Kedar Pophale B24AD1003</a:t>
            </a:r>
          </a:p>
          <a:p>
            <a:pPr algn="l">
              <a:lnSpc>
                <a:spcPts val="2937"/>
              </a:lnSpc>
            </a:pPr>
            <a:r>
              <a:rPr lang="en-US" sz="23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Sanchita Pathak B24AD1024</a:t>
            </a:r>
          </a:p>
          <a:p>
            <a:pPr algn="l">
              <a:lnSpc>
                <a:spcPts val="2937"/>
              </a:lnSpc>
            </a:pPr>
            <a:r>
              <a:rPr lang="en-US" sz="23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Om Dhakane B24AD1007</a:t>
            </a:r>
          </a:p>
          <a:p>
            <a:pPr algn="l">
              <a:lnSpc>
                <a:spcPts val="2937"/>
              </a:lnSpc>
            </a:pPr>
            <a:r>
              <a:rPr lang="en-US" sz="23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Spandan Wasnik B24AD1005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875520" y="8518882"/>
            <a:ext cx="6583680" cy="1141373"/>
            <a:chOff x="0" y="0"/>
            <a:chExt cx="8778240" cy="152183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778240" cy="1521830"/>
            </a:xfrm>
            <a:custGeom>
              <a:avLst/>
              <a:gdLst/>
              <a:ahLst/>
              <a:cxnLst/>
              <a:rect l="l" t="t" r="r" b="b"/>
              <a:pathLst>
                <a:path w="8778240" h="1521830">
                  <a:moveTo>
                    <a:pt x="0" y="0"/>
                  </a:moveTo>
                  <a:lnTo>
                    <a:pt x="8778240" y="0"/>
                  </a:lnTo>
                  <a:lnTo>
                    <a:pt x="8778240" y="1521830"/>
                  </a:lnTo>
                  <a:lnTo>
                    <a:pt x="0" y="15218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6342" b="-48445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76200"/>
              <a:ext cx="8778240" cy="15980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97"/>
                </a:lnSpc>
              </a:pPr>
              <a:r>
                <a:rPr lang="en-US" sz="2100" b="1" spc="210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COLLEGE</a:t>
              </a:r>
            </a:p>
            <a:p>
              <a:pPr algn="l">
                <a:lnSpc>
                  <a:spcPts val="2897"/>
                </a:lnSpc>
              </a:pPr>
              <a:r>
                <a:rPr lang="en-US" sz="2100" spc="21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Marathwada Mitra Mandal’s College Of Engineering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875520" y="6791020"/>
            <a:ext cx="6583680" cy="822960"/>
            <a:chOff x="0" y="0"/>
            <a:chExt cx="8778240" cy="109728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778240" cy="1097280"/>
            </a:xfrm>
            <a:custGeom>
              <a:avLst/>
              <a:gdLst/>
              <a:ahLst/>
              <a:cxnLst/>
              <a:rect l="l" t="t" r="r" b="b"/>
              <a:pathLst>
                <a:path w="8778240" h="1097280">
                  <a:moveTo>
                    <a:pt x="0" y="0"/>
                  </a:moveTo>
                  <a:lnTo>
                    <a:pt x="8778240" y="0"/>
                  </a:lnTo>
                  <a:lnTo>
                    <a:pt x="8778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76200"/>
              <a:ext cx="8778240" cy="1173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97"/>
                </a:lnSpc>
              </a:pPr>
              <a:r>
                <a:rPr lang="en-US" sz="2100" b="1" spc="210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COURSE / DEPARTMENT</a:t>
              </a:r>
            </a:p>
            <a:p>
              <a:pPr algn="l">
                <a:lnSpc>
                  <a:spcPts val="2897"/>
                </a:lnSpc>
              </a:pPr>
              <a:r>
                <a:rPr lang="en-US" sz="2100" spc="21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AIDS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33450" y="8879205"/>
            <a:ext cx="2314724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1">
                <a:solidFill>
                  <a:srgbClr val="02C3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Mentor </a:t>
            </a:r>
          </a:p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Dr. Dhanraj Dhotre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76072"/>
            <a:ext cx="13716000" cy="480060"/>
            <a:chOff x="0" y="0"/>
            <a:chExt cx="182880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640080"/>
            </a:xfrm>
            <a:custGeom>
              <a:avLst/>
              <a:gdLst/>
              <a:ahLst/>
              <a:cxnLst/>
              <a:rect l="l" t="t" r="r" b="b"/>
              <a:pathLst>
                <a:path w="18288000" h="64008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15" b="-506715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28800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299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CHALLENGE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987552"/>
            <a:ext cx="15773400" cy="960120"/>
            <a:chOff x="0" y="0"/>
            <a:chExt cx="21031200" cy="12801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11" b="-27011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0B3D5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The Problem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2331720"/>
            <a:ext cx="7612380" cy="1577340"/>
            <a:chOff x="0" y="0"/>
            <a:chExt cx="10149840" cy="21031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149840" cy="2103120"/>
            </a:xfrm>
            <a:custGeom>
              <a:avLst/>
              <a:gdLst/>
              <a:ahLst/>
              <a:cxnLst/>
              <a:rect l="l" t="t" r="r" b="b"/>
              <a:pathLst>
                <a:path w="10149840" h="21031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9985248" y="0"/>
                  </a:lnTo>
                  <a:cubicBezTo>
                    <a:pt x="10076180" y="0"/>
                    <a:pt x="10149840" y="73660"/>
                    <a:pt x="10149840" y="164592"/>
                  </a:cubicBezTo>
                  <a:lnTo>
                    <a:pt x="10149840" y="1938528"/>
                  </a:lnTo>
                  <a:cubicBezTo>
                    <a:pt x="10149840" y="2029460"/>
                    <a:pt x="10076180" y="2103120"/>
                    <a:pt x="9985248" y="2103120"/>
                  </a:cubicBezTo>
                  <a:lnTo>
                    <a:pt x="164592" y="2103120"/>
                  </a:lnTo>
                  <a:cubicBezTo>
                    <a:pt x="73660" y="2103120"/>
                    <a:pt x="0" y="2029460"/>
                    <a:pt x="0" y="1938528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097280" y="2695194"/>
            <a:ext cx="850392" cy="850392"/>
            <a:chOff x="0" y="0"/>
            <a:chExt cx="1133856" cy="113385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0B3D59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335386" y="2933300"/>
            <a:ext cx="374171" cy="374171"/>
            <a:chOff x="0" y="0"/>
            <a:chExt cx="498894" cy="498894"/>
          </a:xfrm>
        </p:grpSpPr>
        <p:sp>
          <p:nvSpPr>
            <p:cNvPr id="13" name="Freeform 13" descr="/home/claude/finance_ppt/icons/warning_white.png"/>
            <p:cNvSpPr/>
            <p:nvPr/>
          </p:nvSpPr>
          <p:spPr>
            <a:xfrm>
              <a:off x="0" y="0"/>
              <a:ext cx="498856" cy="498856"/>
            </a:xfrm>
            <a:custGeom>
              <a:avLst/>
              <a:gdLst/>
              <a:ahLst/>
              <a:cxnLst/>
              <a:rect l="l" t="t" r="r" b="b"/>
              <a:pathLst>
                <a:path w="498856" h="498856">
                  <a:moveTo>
                    <a:pt x="0" y="0"/>
                  </a:moveTo>
                  <a:lnTo>
                    <a:pt x="498856" y="0"/>
                  </a:lnTo>
                  <a:lnTo>
                    <a:pt x="498856" y="498856"/>
                  </a:lnTo>
                  <a:lnTo>
                    <a:pt x="0" y="498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7" b="-7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2125980" y="2523744"/>
            <a:ext cx="6035040" cy="438912"/>
            <a:chOff x="0" y="0"/>
            <a:chExt cx="8046720" cy="58521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046720" cy="585216"/>
            </a:xfrm>
            <a:custGeom>
              <a:avLst/>
              <a:gdLst/>
              <a:ahLst/>
              <a:cxnLst/>
              <a:rect l="l" t="t" r="r" b="b"/>
              <a:pathLst>
                <a:path w="8046720" h="585216">
                  <a:moveTo>
                    <a:pt x="0" y="0"/>
                  </a:moveTo>
                  <a:lnTo>
                    <a:pt x="8046720" y="0"/>
                  </a:lnTo>
                  <a:lnTo>
                    <a:pt x="8046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919" b="-217919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8046720" cy="6328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Silent Overspending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125980" y="2962656"/>
            <a:ext cx="6035040" cy="822960"/>
            <a:chOff x="0" y="0"/>
            <a:chExt cx="8046720" cy="109728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046720" cy="1097280"/>
            </a:xfrm>
            <a:custGeom>
              <a:avLst/>
              <a:gdLst/>
              <a:ahLst/>
              <a:cxnLst/>
              <a:rect l="l" t="t" r="r" b="b"/>
              <a:pathLst>
                <a:path w="8046720" h="1097280">
                  <a:moveTo>
                    <a:pt x="0" y="0"/>
                  </a:moveTo>
                  <a:lnTo>
                    <a:pt x="8046720" y="0"/>
                  </a:lnTo>
                  <a:lnTo>
                    <a:pt x="8046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2890" b="-9289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804672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78"/>
                </a:lnSpc>
              </a:pPr>
              <a:r>
                <a:rPr lang="en-US" sz="165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Users record expenses but may not realize where they're overspending.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121140" y="2331720"/>
            <a:ext cx="7612380" cy="1577340"/>
            <a:chOff x="0" y="0"/>
            <a:chExt cx="10149840" cy="21031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149840" cy="2103120"/>
            </a:xfrm>
            <a:custGeom>
              <a:avLst/>
              <a:gdLst/>
              <a:ahLst/>
              <a:cxnLst/>
              <a:rect l="l" t="t" r="r" b="b"/>
              <a:pathLst>
                <a:path w="10149840" h="21031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9985248" y="0"/>
                  </a:lnTo>
                  <a:cubicBezTo>
                    <a:pt x="10076180" y="0"/>
                    <a:pt x="10149840" y="73660"/>
                    <a:pt x="10149840" y="164592"/>
                  </a:cubicBezTo>
                  <a:lnTo>
                    <a:pt x="10149840" y="1938528"/>
                  </a:lnTo>
                  <a:cubicBezTo>
                    <a:pt x="10149840" y="2029460"/>
                    <a:pt x="10076180" y="2103120"/>
                    <a:pt x="9985248" y="2103120"/>
                  </a:cubicBezTo>
                  <a:lnTo>
                    <a:pt x="164592" y="2103120"/>
                  </a:lnTo>
                  <a:cubicBezTo>
                    <a:pt x="73660" y="2103120"/>
                    <a:pt x="0" y="2029460"/>
                    <a:pt x="0" y="1938528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9395460" y="2695194"/>
            <a:ext cx="850392" cy="850392"/>
            <a:chOff x="0" y="0"/>
            <a:chExt cx="1133856" cy="113385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0B3D59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9633566" y="2933300"/>
            <a:ext cx="374171" cy="374171"/>
            <a:chOff x="0" y="0"/>
            <a:chExt cx="498894" cy="498894"/>
          </a:xfrm>
        </p:grpSpPr>
        <p:sp>
          <p:nvSpPr>
            <p:cNvPr id="25" name="Freeform 25" descr="/home/claude/finance_ppt/icons/dining_white.png"/>
            <p:cNvSpPr/>
            <p:nvPr/>
          </p:nvSpPr>
          <p:spPr>
            <a:xfrm>
              <a:off x="0" y="0"/>
              <a:ext cx="498856" cy="498856"/>
            </a:xfrm>
            <a:custGeom>
              <a:avLst/>
              <a:gdLst/>
              <a:ahLst/>
              <a:cxnLst/>
              <a:rect l="l" t="t" r="r" b="b"/>
              <a:pathLst>
                <a:path w="498856" h="498856">
                  <a:moveTo>
                    <a:pt x="0" y="0"/>
                  </a:moveTo>
                  <a:lnTo>
                    <a:pt x="498856" y="0"/>
                  </a:lnTo>
                  <a:lnTo>
                    <a:pt x="498856" y="498856"/>
                  </a:lnTo>
                  <a:lnTo>
                    <a:pt x="0" y="498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7" b="-7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10424160" y="2523744"/>
            <a:ext cx="6035040" cy="438912"/>
            <a:chOff x="0" y="0"/>
            <a:chExt cx="8046720" cy="58521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046720" cy="585216"/>
            </a:xfrm>
            <a:custGeom>
              <a:avLst/>
              <a:gdLst/>
              <a:ahLst/>
              <a:cxnLst/>
              <a:rect l="l" t="t" r="r" b="b"/>
              <a:pathLst>
                <a:path w="8046720" h="585216">
                  <a:moveTo>
                    <a:pt x="0" y="0"/>
                  </a:moveTo>
                  <a:lnTo>
                    <a:pt x="8046720" y="0"/>
                  </a:lnTo>
                  <a:lnTo>
                    <a:pt x="8046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919" b="-217919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8046720" cy="6328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Fast-Moving Categories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424160" y="2962656"/>
            <a:ext cx="6035040" cy="822960"/>
            <a:chOff x="0" y="0"/>
            <a:chExt cx="8046720" cy="109728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046720" cy="1097280"/>
            </a:xfrm>
            <a:custGeom>
              <a:avLst/>
              <a:gdLst/>
              <a:ahLst/>
              <a:cxnLst/>
              <a:rect l="l" t="t" r="r" b="b"/>
              <a:pathLst>
                <a:path w="8046720" h="1097280">
                  <a:moveTo>
                    <a:pt x="0" y="0"/>
                  </a:moveTo>
                  <a:lnTo>
                    <a:pt x="8046720" y="0"/>
                  </a:lnTo>
                  <a:lnTo>
                    <a:pt x="8046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2890" b="-92890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804672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78"/>
                </a:lnSpc>
              </a:pPr>
              <a:r>
                <a:rPr lang="en-US" sz="165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Spending on Dining, Shopping and Travel can increase quickly.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22960" y="4183380"/>
            <a:ext cx="7612380" cy="1577340"/>
            <a:chOff x="0" y="0"/>
            <a:chExt cx="10149840" cy="210312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149840" cy="2103120"/>
            </a:xfrm>
            <a:custGeom>
              <a:avLst/>
              <a:gdLst/>
              <a:ahLst/>
              <a:cxnLst/>
              <a:rect l="l" t="t" r="r" b="b"/>
              <a:pathLst>
                <a:path w="10149840" h="21031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9985248" y="0"/>
                  </a:lnTo>
                  <a:cubicBezTo>
                    <a:pt x="10076180" y="0"/>
                    <a:pt x="10149840" y="73660"/>
                    <a:pt x="10149840" y="164592"/>
                  </a:cubicBezTo>
                  <a:lnTo>
                    <a:pt x="10149840" y="1938528"/>
                  </a:lnTo>
                  <a:cubicBezTo>
                    <a:pt x="10149840" y="2029460"/>
                    <a:pt x="10076180" y="2103120"/>
                    <a:pt x="9985248" y="2103120"/>
                  </a:cubicBezTo>
                  <a:lnTo>
                    <a:pt x="164592" y="2103120"/>
                  </a:lnTo>
                  <a:cubicBezTo>
                    <a:pt x="73660" y="2103120"/>
                    <a:pt x="0" y="2029460"/>
                    <a:pt x="0" y="1938528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097280" y="4546854"/>
            <a:ext cx="850392" cy="850392"/>
            <a:chOff x="0" y="0"/>
            <a:chExt cx="1133856" cy="113385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0B3D59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335386" y="4784960"/>
            <a:ext cx="374171" cy="374171"/>
            <a:chOff x="0" y="0"/>
            <a:chExt cx="498894" cy="498894"/>
          </a:xfrm>
        </p:grpSpPr>
        <p:sp>
          <p:nvSpPr>
            <p:cNvPr id="37" name="Freeform 37" descr="/home/claude/finance_ppt/icons/bell_white.png"/>
            <p:cNvSpPr/>
            <p:nvPr/>
          </p:nvSpPr>
          <p:spPr>
            <a:xfrm>
              <a:off x="0" y="0"/>
              <a:ext cx="498856" cy="498856"/>
            </a:xfrm>
            <a:custGeom>
              <a:avLst/>
              <a:gdLst/>
              <a:ahLst/>
              <a:cxnLst/>
              <a:rect l="l" t="t" r="r" b="b"/>
              <a:pathLst>
                <a:path w="498856" h="498856">
                  <a:moveTo>
                    <a:pt x="0" y="0"/>
                  </a:moveTo>
                  <a:lnTo>
                    <a:pt x="498856" y="0"/>
                  </a:lnTo>
                  <a:lnTo>
                    <a:pt x="498856" y="498856"/>
                  </a:lnTo>
                  <a:lnTo>
                    <a:pt x="0" y="498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7" b="-7"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>
            <a:off x="2125980" y="4375404"/>
            <a:ext cx="6035040" cy="438912"/>
            <a:chOff x="0" y="0"/>
            <a:chExt cx="8046720" cy="58521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046720" cy="585216"/>
            </a:xfrm>
            <a:custGeom>
              <a:avLst/>
              <a:gdLst/>
              <a:ahLst/>
              <a:cxnLst/>
              <a:rect l="l" t="t" r="r" b="b"/>
              <a:pathLst>
                <a:path w="8046720" h="585216">
                  <a:moveTo>
                    <a:pt x="0" y="0"/>
                  </a:moveTo>
                  <a:lnTo>
                    <a:pt x="8046720" y="0"/>
                  </a:lnTo>
                  <a:lnTo>
                    <a:pt x="8046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919" b="-217919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8046720" cy="6328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Too Late to React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2125980" y="4814316"/>
            <a:ext cx="6035040" cy="822960"/>
            <a:chOff x="0" y="0"/>
            <a:chExt cx="8046720" cy="109728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046720" cy="1097280"/>
            </a:xfrm>
            <a:custGeom>
              <a:avLst/>
              <a:gdLst/>
              <a:ahLst/>
              <a:cxnLst/>
              <a:rect l="l" t="t" r="r" b="b"/>
              <a:pathLst>
                <a:path w="8046720" h="1097280">
                  <a:moveTo>
                    <a:pt x="0" y="0"/>
                  </a:moveTo>
                  <a:lnTo>
                    <a:pt x="8046720" y="0"/>
                  </a:lnTo>
                  <a:lnTo>
                    <a:pt x="8046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2890" b="-92890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804672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78"/>
                </a:lnSpc>
              </a:pPr>
              <a:r>
                <a:rPr lang="en-US" sz="165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Budget problems are often discovered only after overspending has happened.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121140" y="4183380"/>
            <a:ext cx="7612380" cy="1577340"/>
            <a:chOff x="0" y="0"/>
            <a:chExt cx="10149840" cy="210312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149840" cy="2103120"/>
            </a:xfrm>
            <a:custGeom>
              <a:avLst/>
              <a:gdLst/>
              <a:ahLst/>
              <a:cxnLst/>
              <a:rect l="l" t="t" r="r" b="b"/>
              <a:pathLst>
                <a:path w="10149840" h="21031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9985248" y="0"/>
                  </a:lnTo>
                  <a:cubicBezTo>
                    <a:pt x="10076180" y="0"/>
                    <a:pt x="10149840" y="73660"/>
                    <a:pt x="10149840" y="164592"/>
                  </a:cubicBezTo>
                  <a:lnTo>
                    <a:pt x="10149840" y="1938528"/>
                  </a:lnTo>
                  <a:cubicBezTo>
                    <a:pt x="10149840" y="2029460"/>
                    <a:pt x="10076180" y="2103120"/>
                    <a:pt x="9985248" y="2103120"/>
                  </a:cubicBezTo>
                  <a:lnTo>
                    <a:pt x="164592" y="2103120"/>
                  </a:lnTo>
                  <a:cubicBezTo>
                    <a:pt x="73660" y="2103120"/>
                    <a:pt x="0" y="2029460"/>
                    <a:pt x="0" y="1938528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9395460" y="4546854"/>
            <a:ext cx="850392" cy="850392"/>
            <a:chOff x="0" y="0"/>
            <a:chExt cx="1133856" cy="1133856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0B3D59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9633566" y="4784960"/>
            <a:ext cx="374171" cy="374171"/>
            <a:chOff x="0" y="0"/>
            <a:chExt cx="498894" cy="498894"/>
          </a:xfrm>
        </p:grpSpPr>
        <p:sp>
          <p:nvSpPr>
            <p:cNvPr id="49" name="Freeform 49" descr="/home/claude/finance_ppt/icons/piggy_white.png"/>
            <p:cNvSpPr/>
            <p:nvPr/>
          </p:nvSpPr>
          <p:spPr>
            <a:xfrm>
              <a:off x="0" y="0"/>
              <a:ext cx="498856" cy="498856"/>
            </a:xfrm>
            <a:custGeom>
              <a:avLst/>
              <a:gdLst/>
              <a:ahLst/>
              <a:cxnLst/>
              <a:rect l="l" t="t" r="r" b="b"/>
              <a:pathLst>
                <a:path w="498856" h="498856">
                  <a:moveTo>
                    <a:pt x="0" y="0"/>
                  </a:moveTo>
                  <a:lnTo>
                    <a:pt x="498856" y="0"/>
                  </a:lnTo>
                  <a:lnTo>
                    <a:pt x="498856" y="498856"/>
                  </a:lnTo>
                  <a:lnTo>
                    <a:pt x="0" y="498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7" b="-7"/>
              </a:stretch>
            </a:blipFill>
          </p:spPr>
        </p:sp>
      </p:grpSp>
      <p:grpSp>
        <p:nvGrpSpPr>
          <p:cNvPr id="50" name="Group 50"/>
          <p:cNvGrpSpPr/>
          <p:nvPr/>
        </p:nvGrpSpPr>
        <p:grpSpPr>
          <a:xfrm>
            <a:off x="10424160" y="4375404"/>
            <a:ext cx="6035040" cy="438912"/>
            <a:chOff x="0" y="0"/>
            <a:chExt cx="8046720" cy="585216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046720" cy="585216"/>
            </a:xfrm>
            <a:custGeom>
              <a:avLst/>
              <a:gdLst/>
              <a:ahLst/>
              <a:cxnLst/>
              <a:rect l="l" t="t" r="r" b="b"/>
              <a:pathLst>
                <a:path w="8046720" h="585216">
                  <a:moveTo>
                    <a:pt x="0" y="0"/>
                  </a:moveTo>
                  <a:lnTo>
                    <a:pt x="8046720" y="0"/>
                  </a:lnTo>
                  <a:lnTo>
                    <a:pt x="8046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919" b="-217919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47625"/>
              <a:ext cx="8046720" cy="6328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Shrinking Savings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0424160" y="4814316"/>
            <a:ext cx="6035040" cy="822960"/>
            <a:chOff x="0" y="0"/>
            <a:chExt cx="8046720" cy="109728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046720" cy="1097280"/>
            </a:xfrm>
            <a:custGeom>
              <a:avLst/>
              <a:gdLst/>
              <a:ahLst/>
              <a:cxnLst/>
              <a:rect l="l" t="t" r="r" b="b"/>
              <a:pathLst>
                <a:path w="8046720" h="1097280">
                  <a:moveTo>
                    <a:pt x="0" y="0"/>
                  </a:moveTo>
                  <a:lnTo>
                    <a:pt x="8046720" y="0"/>
                  </a:lnTo>
                  <a:lnTo>
                    <a:pt x="8046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2890" b="-92890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47625"/>
              <a:ext cx="804672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78"/>
                </a:lnSpc>
              </a:pPr>
              <a:r>
                <a:rPr lang="en-US" sz="165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Current spending can quietly reduce planned savings.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22960" y="6035040"/>
            <a:ext cx="15910560" cy="1577340"/>
            <a:chOff x="0" y="0"/>
            <a:chExt cx="21214080" cy="210312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1214079" cy="2103120"/>
            </a:xfrm>
            <a:custGeom>
              <a:avLst/>
              <a:gdLst/>
              <a:ahLst/>
              <a:cxnLst/>
              <a:rect l="l" t="t" r="r" b="b"/>
              <a:pathLst>
                <a:path w="21214079" h="21031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049487" y="0"/>
                  </a:lnTo>
                  <a:cubicBezTo>
                    <a:pt x="21140420" y="0"/>
                    <a:pt x="21214079" y="73660"/>
                    <a:pt x="21214079" y="164592"/>
                  </a:cubicBezTo>
                  <a:lnTo>
                    <a:pt x="21214079" y="1938528"/>
                  </a:lnTo>
                  <a:cubicBezTo>
                    <a:pt x="21214079" y="2029460"/>
                    <a:pt x="21140420" y="2103120"/>
                    <a:pt x="21049487" y="2103120"/>
                  </a:cubicBezTo>
                  <a:lnTo>
                    <a:pt x="164592" y="2103120"/>
                  </a:lnTo>
                  <a:cubicBezTo>
                    <a:pt x="73660" y="2103120"/>
                    <a:pt x="0" y="2029460"/>
                    <a:pt x="0" y="1938528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1097280" y="6398514"/>
            <a:ext cx="850392" cy="850392"/>
            <a:chOff x="0" y="0"/>
            <a:chExt cx="1133856" cy="1133856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0B3D59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1335386" y="6636620"/>
            <a:ext cx="374171" cy="374171"/>
            <a:chOff x="0" y="0"/>
            <a:chExt cx="498894" cy="498894"/>
          </a:xfrm>
        </p:grpSpPr>
        <p:sp>
          <p:nvSpPr>
            <p:cNvPr id="61" name="Freeform 61" descr="/home/claude/finance_ppt/icons/calendar_white.png"/>
            <p:cNvSpPr/>
            <p:nvPr/>
          </p:nvSpPr>
          <p:spPr>
            <a:xfrm>
              <a:off x="0" y="0"/>
              <a:ext cx="498856" cy="498856"/>
            </a:xfrm>
            <a:custGeom>
              <a:avLst/>
              <a:gdLst/>
              <a:ahLst/>
              <a:cxnLst/>
              <a:rect l="l" t="t" r="r" b="b"/>
              <a:pathLst>
                <a:path w="498856" h="498856">
                  <a:moveTo>
                    <a:pt x="0" y="0"/>
                  </a:moveTo>
                  <a:lnTo>
                    <a:pt x="498856" y="0"/>
                  </a:lnTo>
                  <a:lnTo>
                    <a:pt x="498856" y="498856"/>
                  </a:lnTo>
                  <a:lnTo>
                    <a:pt x="0" y="498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7" b="-7"/>
              </a:stretch>
            </a:blipFill>
          </p:spPr>
        </p:sp>
      </p:grpSp>
      <p:grpSp>
        <p:nvGrpSpPr>
          <p:cNvPr id="62" name="Group 62"/>
          <p:cNvGrpSpPr/>
          <p:nvPr/>
        </p:nvGrpSpPr>
        <p:grpSpPr>
          <a:xfrm>
            <a:off x="2125980" y="6227064"/>
            <a:ext cx="14333220" cy="438912"/>
            <a:chOff x="0" y="0"/>
            <a:chExt cx="19110960" cy="58521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9110961" cy="585216"/>
            </a:xfrm>
            <a:custGeom>
              <a:avLst/>
              <a:gdLst/>
              <a:ahLst/>
              <a:cxnLst/>
              <a:rect l="l" t="t" r="r" b="b"/>
              <a:pathLst>
                <a:path w="19110961" h="585216">
                  <a:moveTo>
                    <a:pt x="0" y="0"/>
                  </a:moveTo>
                  <a:lnTo>
                    <a:pt x="19110961" y="0"/>
                  </a:lnTo>
                  <a:lnTo>
                    <a:pt x="19110961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6308" b="-586308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47625"/>
              <a:ext cx="19110960" cy="6328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Blind to What's Next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2125980" y="6665976"/>
            <a:ext cx="14333220" cy="822960"/>
            <a:chOff x="0" y="0"/>
            <a:chExt cx="19110960" cy="109728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9110961" cy="1097280"/>
            </a:xfrm>
            <a:custGeom>
              <a:avLst/>
              <a:gdLst/>
              <a:ahLst/>
              <a:cxnLst/>
              <a:rect l="l" t="t" r="r" b="b"/>
              <a:pathLst>
                <a:path w="19110961" h="1097280">
                  <a:moveTo>
                    <a:pt x="0" y="0"/>
                  </a:moveTo>
                  <a:lnTo>
                    <a:pt x="19110961" y="0"/>
                  </a:lnTo>
                  <a:lnTo>
                    <a:pt x="191109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9364" b="-289364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47625"/>
              <a:ext cx="1911096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78"/>
                </a:lnSpc>
              </a:pPr>
              <a:r>
                <a:rPr lang="en-US" sz="165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Users may not know how current spending affects upcoming or next month's expenses.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822960" y="8023860"/>
            <a:ext cx="16596360" cy="1303020"/>
            <a:chOff x="0" y="0"/>
            <a:chExt cx="22128480" cy="173736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2128479" cy="1737360"/>
            </a:xfrm>
            <a:custGeom>
              <a:avLst/>
              <a:gdLst/>
              <a:ahLst/>
              <a:cxnLst/>
              <a:rect l="l" t="t" r="r" b="b"/>
              <a:pathLst>
                <a:path w="22128479" h="173736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963887" y="0"/>
                  </a:lnTo>
                  <a:cubicBezTo>
                    <a:pt x="22054820" y="0"/>
                    <a:pt x="22128479" y="73660"/>
                    <a:pt x="22128479" y="164592"/>
                  </a:cubicBezTo>
                  <a:lnTo>
                    <a:pt x="22128479" y="1572768"/>
                  </a:lnTo>
                  <a:cubicBezTo>
                    <a:pt x="22128479" y="1663700"/>
                    <a:pt x="22054820" y="1737360"/>
                    <a:pt x="21963887" y="1737360"/>
                  </a:cubicBezTo>
                  <a:lnTo>
                    <a:pt x="164592" y="1737360"/>
                  </a:lnTo>
                  <a:cubicBezTo>
                    <a:pt x="73660" y="1737360"/>
                    <a:pt x="0" y="1663700"/>
                    <a:pt x="0" y="1572768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id="70" name="Group 70"/>
          <p:cNvGrpSpPr/>
          <p:nvPr/>
        </p:nvGrpSpPr>
        <p:grpSpPr>
          <a:xfrm>
            <a:off x="1303020" y="8188452"/>
            <a:ext cx="15636240" cy="384048"/>
            <a:chOff x="0" y="0"/>
            <a:chExt cx="20848320" cy="512064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0848320" cy="512064"/>
            </a:xfrm>
            <a:custGeom>
              <a:avLst/>
              <a:gdLst/>
              <a:ahLst/>
              <a:cxnLst/>
              <a:rect l="l" t="t" r="r" b="b"/>
              <a:pathLst>
                <a:path w="20848320" h="512064">
                  <a:moveTo>
                    <a:pt x="0" y="0"/>
                  </a:moveTo>
                  <a:lnTo>
                    <a:pt x="20848320" y="0"/>
                  </a:lnTo>
                  <a:lnTo>
                    <a:pt x="208483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3319" b="-743319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28575"/>
              <a:ext cx="2084832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303020" y="8572500"/>
            <a:ext cx="15636240" cy="685800"/>
            <a:chOff x="0" y="0"/>
            <a:chExt cx="20848320" cy="91440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0848320" cy="914400"/>
            </a:xfrm>
            <a:custGeom>
              <a:avLst/>
              <a:gdLst/>
              <a:ahLst/>
              <a:cxnLst/>
              <a:rect l="l" t="t" r="r" b="b"/>
              <a:pathLst>
                <a:path w="20848320" h="914400">
                  <a:moveTo>
                    <a:pt x="0" y="0"/>
                  </a:moveTo>
                  <a:lnTo>
                    <a:pt x="20848320" y="0"/>
                  </a:lnTo>
                  <a:lnTo>
                    <a:pt x="20848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4258" b="-394258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47625"/>
              <a:ext cx="2084832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i="1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How can we identify overspending early and show users how it can affect their future savings?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7323308" y="9669780"/>
            <a:ext cx="548640" cy="411480"/>
            <a:chOff x="0" y="0"/>
            <a:chExt cx="731520" cy="54864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731520" cy="548640"/>
            </a:xfrm>
            <a:custGeom>
              <a:avLst/>
              <a:gdLst/>
              <a:ahLst/>
              <a:cxnLst/>
              <a:rect l="l" t="t" r="r" b="b"/>
              <a:pathLst>
                <a:path w="731520" h="54864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84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685800" y="9669780"/>
            <a:ext cx="8229600" cy="411480"/>
            <a:chOff x="0" y="0"/>
            <a:chExt cx="10972800" cy="54864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84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PERSONAL FINANCE EXPENSE ANALYZER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76072"/>
            <a:ext cx="13716000" cy="480060"/>
            <a:chOff x="0" y="0"/>
            <a:chExt cx="182880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640080"/>
            </a:xfrm>
            <a:custGeom>
              <a:avLst/>
              <a:gdLst/>
              <a:ahLst/>
              <a:cxnLst/>
              <a:rect l="l" t="t" r="r" b="b"/>
              <a:pathLst>
                <a:path w="18288000" h="64008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15" b="-506715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28800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299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APPROACH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987552"/>
            <a:ext cx="15773400" cy="960120"/>
            <a:chOff x="0" y="0"/>
            <a:chExt cx="21031200" cy="12801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11" b="-27011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0B3D5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The Proposed Solution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2057400"/>
            <a:ext cx="16184880" cy="548640"/>
            <a:chOff x="0" y="0"/>
            <a:chExt cx="21579840" cy="731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579839" cy="731520"/>
            </a:xfrm>
            <a:custGeom>
              <a:avLst/>
              <a:gdLst/>
              <a:ahLst/>
              <a:cxnLst/>
              <a:rect l="l" t="t" r="r" b="b"/>
              <a:pathLst>
                <a:path w="21579839" h="731520">
                  <a:moveTo>
                    <a:pt x="0" y="0"/>
                  </a:moveTo>
                  <a:lnTo>
                    <a:pt x="21579839" y="0"/>
                  </a:lnTo>
                  <a:lnTo>
                    <a:pt x="215798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4808" b="-524808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157984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B84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system lets users manually enter transactions, then runs them through a six-stage analysis pipeline: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 rot="8880">
            <a:off x="1798291" y="4002405"/>
            <a:ext cx="14714268" cy="0"/>
          </a:xfrm>
          <a:prstGeom prst="line">
            <a:avLst/>
          </a:prstGeom>
          <a:ln w="19050" cap="rnd">
            <a:solidFill>
              <a:srgbClr val="1C729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1028700" y="3223260"/>
            <a:ext cx="1577340" cy="1577340"/>
            <a:chOff x="0" y="0"/>
            <a:chExt cx="2103120" cy="21031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03120" cy="2103120"/>
            </a:xfrm>
            <a:custGeom>
              <a:avLst/>
              <a:gdLst/>
              <a:ahLst/>
              <a:cxnLst/>
              <a:rect l="l" t="t" r="r" b="b"/>
              <a:pathLst>
                <a:path w="2103120" h="2103120">
                  <a:moveTo>
                    <a:pt x="0" y="1051560"/>
                  </a:moveTo>
                  <a:cubicBezTo>
                    <a:pt x="0" y="470789"/>
                    <a:pt x="470789" y="0"/>
                    <a:pt x="1051560" y="0"/>
                  </a:cubicBezTo>
                  <a:cubicBezTo>
                    <a:pt x="1632331" y="0"/>
                    <a:pt x="2103120" y="470789"/>
                    <a:pt x="2103120" y="1051560"/>
                  </a:cubicBezTo>
                  <a:cubicBezTo>
                    <a:pt x="2103120" y="1632331"/>
                    <a:pt x="1632331" y="2103120"/>
                    <a:pt x="1051560" y="2103120"/>
                  </a:cubicBezTo>
                  <a:cubicBezTo>
                    <a:pt x="470789" y="2103120"/>
                    <a:pt x="0" y="1632331"/>
                    <a:pt x="0" y="1051560"/>
                  </a:cubicBezTo>
                  <a:close/>
                </a:path>
              </a:pathLst>
            </a:custGeom>
            <a:solidFill>
              <a:srgbClr val="0B3D59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423035" y="3617595"/>
            <a:ext cx="788670" cy="788670"/>
            <a:chOff x="0" y="0"/>
            <a:chExt cx="1051560" cy="1051560"/>
          </a:xfrm>
        </p:grpSpPr>
        <p:sp>
          <p:nvSpPr>
            <p:cNvPr id="15" name="Freeform 15" descr="/home/claude/finance_ppt/icons/sort_white.png"/>
            <p:cNvSpPr/>
            <p:nvPr/>
          </p:nvSpPr>
          <p:spPr>
            <a:xfrm>
              <a:off x="0" y="0"/>
              <a:ext cx="1051560" cy="1051560"/>
            </a:xfrm>
            <a:custGeom>
              <a:avLst/>
              <a:gdLst/>
              <a:ahLst/>
              <a:cxnLst/>
              <a:rect l="l" t="t" r="r" b="b"/>
              <a:pathLst>
                <a:path w="1051560" h="1051560">
                  <a:moveTo>
                    <a:pt x="0" y="0"/>
                  </a:moveTo>
                  <a:lnTo>
                    <a:pt x="1051560" y="0"/>
                  </a:lnTo>
                  <a:lnTo>
                    <a:pt x="1051560" y="1051560"/>
                  </a:lnTo>
                  <a:lnTo>
                    <a:pt x="0" y="1051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2180272" y="3044380"/>
            <a:ext cx="577215" cy="577215"/>
            <a:chOff x="0" y="0"/>
            <a:chExt cx="769620" cy="7696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69620" cy="769620"/>
            </a:xfrm>
            <a:custGeom>
              <a:avLst/>
              <a:gdLst/>
              <a:ahLst/>
              <a:cxnLst/>
              <a:rect l="l" t="t" r="r" b="b"/>
              <a:pathLst>
                <a:path w="769620" h="769620">
                  <a:moveTo>
                    <a:pt x="0" y="384810"/>
                  </a:moveTo>
                  <a:cubicBezTo>
                    <a:pt x="0" y="172339"/>
                    <a:pt x="172339" y="0"/>
                    <a:pt x="384810" y="0"/>
                  </a:cubicBezTo>
                  <a:cubicBezTo>
                    <a:pt x="597281" y="0"/>
                    <a:pt x="769620" y="172339"/>
                    <a:pt x="769620" y="384810"/>
                  </a:cubicBezTo>
                  <a:cubicBezTo>
                    <a:pt x="769620" y="597281"/>
                    <a:pt x="597281" y="769620"/>
                    <a:pt x="384810" y="769620"/>
                  </a:cubicBezTo>
                  <a:cubicBezTo>
                    <a:pt x="172339" y="769620"/>
                    <a:pt x="0" y="597281"/>
                    <a:pt x="0" y="384810"/>
                  </a:cubicBezTo>
                  <a:close/>
                </a:path>
              </a:pathLst>
            </a:custGeom>
            <a:solidFill>
              <a:srgbClr val="02C39A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2194560" y="3058668"/>
            <a:ext cx="548640" cy="548640"/>
            <a:chOff x="0" y="0"/>
            <a:chExt cx="731520" cy="7315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11480" y="4965192"/>
            <a:ext cx="2811780" cy="754380"/>
            <a:chOff x="0" y="0"/>
            <a:chExt cx="3749040" cy="10058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749040" cy="1005840"/>
            </a:xfrm>
            <a:custGeom>
              <a:avLst/>
              <a:gdLst/>
              <a:ahLst/>
              <a:cxnLst/>
              <a:rect l="l" t="t" r="r" b="b"/>
              <a:pathLst>
                <a:path w="3749040" h="1005840">
                  <a:moveTo>
                    <a:pt x="0" y="0"/>
                  </a:moveTo>
                  <a:lnTo>
                    <a:pt x="3749040" y="0"/>
                  </a:lnTo>
                  <a:lnTo>
                    <a:pt x="3749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26" b="-22626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3749040" cy="1053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73"/>
                </a:lnSpc>
              </a:pPr>
              <a:r>
                <a:rPr lang="en-US" sz="172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Separate Expenses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42900" y="5733288"/>
            <a:ext cx="2948940" cy="891540"/>
            <a:chOff x="0" y="0"/>
            <a:chExt cx="3931920" cy="11887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931920" cy="1188720"/>
            </a:xfrm>
            <a:custGeom>
              <a:avLst/>
              <a:gdLst/>
              <a:ahLst/>
              <a:cxnLst/>
              <a:rect l="l" t="t" r="r" b="b"/>
              <a:pathLst>
                <a:path w="3931920" h="1188720">
                  <a:moveTo>
                    <a:pt x="0" y="0"/>
                  </a:moveTo>
                  <a:lnTo>
                    <a:pt x="3931920" y="0"/>
                  </a:lnTo>
                  <a:lnTo>
                    <a:pt x="39319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50" b="-14450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3931920" cy="12268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95"/>
                </a:lnSpc>
              </a:pPr>
              <a:r>
                <a:rPr lang="en-US" sz="1425">
                  <a:solidFill>
                    <a:srgbClr val="6B84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Fixed, recurring-variable &amp; variable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963924" y="3223260"/>
            <a:ext cx="1577340" cy="1577340"/>
            <a:chOff x="0" y="0"/>
            <a:chExt cx="2103120" cy="21031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03120" cy="2103120"/>
            </a:xfrm>
            <a:custGeom>
              <a:avLst/>
              <a:gdLst/>
              <a:ahLst/>
              <a:cxnLst/>
              <a:rect l="l" t="t" r="r" b="b"/>
              <a:pathLst>
                <a:path w="2103120" h="2103120">
                  <a:moveTo>
                    <a:pt x="0" y="1051560"/>
                  </a:moveTo>
                  <a:cubicBezTo>
                    <a:pt x="0" y="470789"/>
                    <a:pt x="470789" y="0"/>
                    <a:pt x="1051560" y="0"/>
                  </a:cubicBezTo>
                  <a:cubicBezTo>
                    <a:pt x="1632331" y="0"/>
                    <a:pt x="2103120" y="470789"/>
                    <a:pt x="2103120" y="1051560"/>
                  </a:cubicBezTo>
                  <a:cubicBezTo>
                    <a:pt x="2103120" y="1632331"/>
                    <a:pt x="1632331" y="2103120"/>
                    <a:pt x="1051560" y="2103120"/>
                  </a:cubicBezTo>
                  <a:cubicBezTo>
                    <a:pt x="470789" y="2103120"/>
                    <a:pt x="0" y="1632331"/>
                    <a:pt x="0" y="1051560"/>
                  </a:cubicBezTo>
                  <a:close/>
                </a:path>
              </a:pathLst>
            </a:custGeom>
            <a:solidFill>
              <a:srgbClr val="0B3D59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4358259" y="3617595"/>
            <a:ext cx="788670" cy="788670"/>
            <a:chOff x="0" y="0"/>
            <a:chExt cx="1051560" cy="1051560"/>
          </a:xfrm>
        </p:grpSpPr>
        <p:sp>
          <p:nvSpPr>
            <p:cNvPr id="30" name="Freeform 30" descr="/home/claude/finance_ppt/icons/chartbar_white.png"/>
            <p:cNvSpPr/>
            <p:nvPr/>
          </p:nvSpPr>
          <p:spPr>
            <a:xfrm>
              <a:off x="0" y="0"/>
              <a:ext cx="1051560" cy="1051560"/>
            </a:xfrm>
            <a:custGeom>
              <a:avLst/>
              <a:gdLst/>
              <a:ahLst/>
              <a:cxnLst/>
              <a:rect l="l" t="t" r="r" b="b"/>
              <a:pathLst>
                <a:path w="1051560" h="1051560">
                  <a:moveTo>
                    <a:pt x="0" y="0"/>
                  </a:moveTo>
                  <a:lnTo>
                    <a:pt x="1051560" y="0"/>
                  </a:lnTo>
                  <a:lnTo>
                    <a:pt x="1051560" y="1051560"/>
                  </a:lnTo>
                  <a:lnTo>
                    <a:pt x="0" y="1051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5115496" y="3044380"/>
            <a:ext cx="577215" cy="577215"/>
            <a:chOff x="0" y="0"/>
            <a:chExt cx="769620" cy="76962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69620" cy="769620"/>
            </a:xfrm>
            <a:custGeom>
              <a:avLst/>
              <a:gdLst/>
              <a:ahLst/>
              <a:cxnLst/>
              <a:rect l="l" t="t" r="r" b="b"/>
              <a:pathLst>
                <a:path w="769620" h="769620">
                  <a:moveTo>
                    <a:pt x="0" y="384810"/>
                  </a:moveTo>
                  <a:cubicBezTo>
                    <a:pt x="0" y="172339"/>
                    <a:pt x="172339" y="0"/>
                    <a:pt x="384810" y="0"/>
                  </a:cubicBezTo>
                  <a:cubicBezTo>
                    <a:pt x="597281" y="0"/>
                    <a:pt x="769620" y="172339"/>
                    <a:pt x="769620" y="384810"/>
                  </a:cubicBezTo>
                  <a:cubicBezTo>
                    <a:pt x="769620" y="597281"/>
                    <a:pt x="597281" y="769620"/>
                    <a:pt x="384810" y="769620"/>
                  </a:cubicBezTo>
                  <a:cubicBezTo>
                    <a:pt x="172339" y="769620"/>
                    <a:pt x="0" y="597281"/>
                    <a:pt x="0" y="384810"/>
                  </a:cubicBezTo>
                  <a:close/>
                </a:path>
              </a:pathLst>
            </a:custGeom>
            <a:solidFill>
              <a:srgbClr val="02C39A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5129784" y="3058668"/>
            <a:ext cx="548640" cy="548640"/>
            <a:chOff x="0" y="0"/>
            <a:chExt cx="731520" cy="73152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3346704" y="4965192"/>
            <a:ext cx="2811780" cy="754380"/>
            <a:chOff x="0" y="0"/>
            <a:chExt cx="3749040" cy="10058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749040" cy="1005840"/>
            </a:xfrm>
            <a:custGeom>
              <a:avLst/>
              <a:gdLst/>
              <a:ahLst/>
              <a:cxnLst/>
              <a:rect l="l" t="t" r="r" b="b"/>
              <a:pathLst>
                <a:path w="3749040" h="1005840">
                  <a:moveTo>
                    <a:pt x="0" y="0"/>
                  </a:moveTo>
                  <a:lnTo>
                    <a:pt x="3749040" y="0"/>
                  </a:lnTo>
                  <a:lnTo>
                    <a:pt x="3749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26" b="-22626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3749040" cy="1053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73"/>
                </a:lnSpc>
              </a:pPr>
              <a:r>
                <a:rPr lang="en-US" sz="172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Analyze Patterns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278124" y="5733288"/>
            <a:ext cx="2948940" cy="891540"/>
            <a:chOff x="0" y="0"/>
            <a:chExt cx="3931920" cy="118872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931920" cy="1188720"/>
            </a:xfrm>
            <a:custGeom>
              <a:avLst/>
              <a:gdLst/>
              <a:ahLst/>
              <a:cxnLst/>
              <a:rect l="l" t="t" r="r" b="b"/>
              <a:pathLst>
                <a:path w="3931920" h="1188720">
                  <a:moveTo>
                    <a:pt x="0" y="0"/>
                  </a:moveTo>
                  <a:lnTo>
                    <a:pt x="3931920" y="0"/>
                  </a:lnTo>
                  <a:lnTo>
                    <a:pt x="39319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50" b="-14450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3931920" cy="12268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95"/>
                </a:lnSpc>
              </a:pPr>
              <a:r>
                <a:rPr lang="en-US" sz="1425">
                  <a:solidFill>
                    <a:srgbClr val="6B84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Study category-wise spending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899148" y="3223260"/>
            <a:ext cx="1577340" cy="1577340"/>
            <a:chOff x="0" y="0"/>
            <a:chExt cx="2103120" cy="210312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103120" cy="2103120"/>
            </a:xfrm>
            <a:custGeom>
              <a:avLst/>
              <a:gdLst/>
              <a:ahLst/>
              <a:cxnLst/>
              <a:rect l="l" t="t" r="r" b="b"/>
              <a:pathLst>
                <a:path w="2103120" h="2103120">
                  <a:moveTo>
                    <a:pt x="0" y="1051560"/>
                  </a:moveTo>
                  <a:cubicBezTo>
                    <a:pt x="0" y="470789"/>
                    <a:pt x="470789" y="0"/>
                    <a:pt x="1051560" y="0"/>
                  </a:cubicBezTo>
                  <a:cubicBezTo>
                    <a:pt x="1632331" y="0"/>
                    <a:pt x="2103120" y="470789"/>
                    <a:pt x="2103120" y="1051560"/>
                  </a:cubicBezTo>
                  <a:cubicBezTo>
                    <a:pt x="2103120" y="1632331"/>
                    <a:pt x="1632331" y="2103120"/>
                    <a:pt x="1051560" y="2103120"/>
                  </a:cubicBezTo>
                  <a:cubicBezTo>
                    <a:pt x="470789" y="2103120"/>
                    <a:pt x="0" y="1632331"/>
                    <a:pt x="0" y="1051560"/>
                  </a:cubicBezTo>
                  <a:close/>
                </a:path>
              </a:pathLst>
            </a:custGeom>
            <a:solidFill>
              <a:srgbClr val="0B3D59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7293483" y="3617595"/>
            <a:ext cx="788670" cy="788670"/>
            <a:chOff x="0" y="0"/>
            <a:chExt cx="1051560" cy="1051560"/>
          </a:xfrm>
        </p:grpSpPr>
        <p:sp>
          <p:nvSpPr>
            <p:cNvPr id="45" name="Freeform 45" descr="/home/claude/finance_ppt/icons/chartline_white.png"/>
            <p:cNvSpPr/>
            <p:nvPr/>
          </p:nvSpPr>
          <p:spPr>
            <a:xfrm>
              <a:off x="0" y="0"/>
              <a:ext cx="1051560" cy="1051560"/>
            </a:xfrm>
            <a:custGeom>
              <a:avLst/>
              <a:gdLst/>
              <a:ahLst/>
              <a:cxnLst/>
              <a:rect l="l" t="t" r="r" b="b"/>
              <a:pathLst>
                <a:path w="1051560" h="1051560">
                  <a:moveTo>
                    <a:pt x="0" y="0"/>
                  </a:moveTo>
                  <a:lnTo>
                    <a:pt x="1051560" y="0"/>
                  </a:lnTo>
                  <a:lnTo>
                    <a:pt x="1051560" y="1051560"/>
                  </a:lnTo>
                  <a:lnTo>
                    <a:pt x="0" y="1051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8050720" y="3044380"/>
            <a:ext cx="577215" cy="577215"/>
            <a:chOff x="0" y="0"/>
            <a:chExt cx="769620" cy="76962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769620" cy="769620"/>
            </a:xfrm>
            <a:custGeom>
              <a:avLst/>
              <a:gdLst/>
              <a:ahLst/>
              <a:cxnLst/>
              <a:rect l="l" t="t" r="r" b="b"/>
              <a:pathLst>
                <a:path w="769620" h="769620">
                  <a:moveTo>
                    <a:pt x="0" y="384810"/>
                  </a:moveTo>
                  <a:cubicBezTo>
                    <a:pt x="0" y="172339"/>
                    <a:pt x="172339" y="0"/>
                    <a:pt x="384810" y="0"/>
                  </a:cubicBezTo>
                  <a:cubicBezTo>
                    <a:pt x="597281" y="0"/>
                    <a:pt x="769620" y="172339"/>
                    <a:pt x="769620" y="384810"/>
                  </a:cubicBezTo>
                  <a:cubicBezTo>
                    <a:pt x="769620" y="597281"/>
                    <a:pt x="597281" y="769620"/>
                    <a:pt x="384810" y="769620"/>
                  </a:cubicBezTo>
                  <a:cubicBezTo>
                    <a:pt x="172339" y="769620"/>
                    <a:pt x="0" y="597281"/>
                    <a:pt x="0" y="384810"/>
                  </a:cubicBezTo>
                  <a:close/>
                </a:path>
              </a:pathLst>
            </a:custGeom>
            <a:solidFill>
              <a:srgbClr val="02C39A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8065008" y="3058668"/>
            <a:ext cx="548640" cy="548640"/>
            <a:chOff x="0" y="0"/>
            <a:chExt cx="731520" cy="73152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281928" y="4965192"/>
            <a:ext cx="2811780" cy="754380"/>
            <a:chOff x="0" y="0"/>
            <a:chExt cx="3749040" cy="100584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749040" cy="1005840"/>
            </a:xfrm>
            <a:custGeom>
              <a:avLst/>
              <a:gdLst/>
              <a:ahLst/>
              <a:cxnLst/>
              <a:rect l="l" t="t" r="r" b="b"/>
              <a:pathLst>
                <a:path w="3749040" h="1005840">
                  <a:moveTo>
                    <a:pt x="0" y="0"/>
                  </a:moveTo>
                  <a:lnTo>
                    <a:pt x="3749040" y="0"/>
                  </a:lnTo>
                  <a:lnTo>
                    <a:pt x="3749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26" b="-22626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47625"/>
              <a:ext cx="3749040" cy="1053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73"/>
                </a:lnSpc>
              </a:pPr>
              <a:r>
                <a:rPr lang="en-US" sz="172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Predict Spending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213348" y="5733288"/>
            <a:ext cx="2948940" cy="891540"/>
            <a:chOff x="0" y="0"/>
            <a:chExt cx="3931920" cy="118872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931920" cy="1188720"/>
            </a:xfrm>
            <a:custGeom>
              <a:avLst/>
              <a:gdLst/>
              <a:ahLst/>
              <a:cxnLst/>
              <a:rect l="l" t="t" r="r" b="b"/>
              <a:pathLst>
                <a:path w="3931920" h="1188720">
                  <a:moveTo>
                    <a:pt x="0" y="0"/>
                  </a:moveTo>
                  <a:lnTo>
                    <a:pt x="3931920" y="0"/>
                  </a:lnTo>
                  <a:lnTo>
                    <a:pt x="39319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50" b="-14450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3931920" cy="12268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95"/>
                </a:lnSpc>
              </a:pPr>
              <a:r>
                <a:rPr lang="en-US" sz="1425">
                  <a:solidFill>
                    <a:srgbClr val="6B84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Forecast future spend per category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9834372" y="3223260"/>
            <a:ext cx="1577340" cy="1577340"/>
            <a:chOff x="0" y="0"/>
            <a:chExt cx="2103120" cy="210312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103120" cy="2103120"/>
            </a:xfrm>
            <a:custGeom>
              <a:avLst/>
              <a:gdLst/>
              <a:ahLst/>
              <a:cxnLst/>
              <a:rect l="l" t="t" r="r" b="b"/>
              <a:pathLst>
                <a:path w="2103120" h="2103120">
                  <a:moveTo>
                    <a:pt x="0" y="1051560"/>
                  </a:moveTo>
                  <a:cubicBezTo>
                    <a:pt x="0" y="470789"/>
                    <a:pt x="470789" y="0"/>
                    <a:pt x="1051560" y="0"/>
                  </a:cubicBezTo>
                  <a:cubicBezTo>
                    <a:pt x="1632331" y="0"/>
                    <a:pt x="2103120" y="470789"/>
                    <a:pt x="2103120" y="1051560"/>
                  </a:cubicBezTo>
                  <a:cubicBezTo>
                    <a:pt x="2103120" y="1632331"/>
                    <a:pt x="1632331" y="2103120"/>
                    <a:pt x="1051560" y="2103120"/>
                  </a:cubicBezTo>
                  <a:cubicBezTo>
                    <a:pt x="470789" y="2103120"/>
                    <a:pt x="0" y="1632331"/>
                    <a:pt x="0" y="1051560"/>
                  </a:cubicBezTo>
                  <a:close/>
                </a:path>
              </a:pathLst>
            </a:custGeom>
            <a:solidFill>
              <a:srgbClr val="E8743B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10228707" y="3617595"/>
            <a:ext cx="788670" cy="788670"/>
            <a:chOff x="0" y="0"/>
            <a:chExt cx="1051560" cy="1051560"/>
          </a:xfrm>
        </p:grpSpPr>
        <p:sp>
          <p:nvSpPr>
            <p:cNvPr id="60" name="Freeform 60" descr="/home/claude/finance_ppt/icons/warning_white.png"/>
            <p:cNvSpPr/>
            <p:nvPr/>
          </p:nvSpPr>
          <p:spPr>
            <a:xfrm>
              <a:off x="0" y="0"/>
              <a:ext cx="1051560" cy="1051560"/>
            </a:xfrm>
            <a:custGeom>
              <a:avLst/>
              <a:gdLst/>
              <a:ahLst/>
              <a:cxnLst/>
              <a:rect l="l" t="t" r="r" b="b"/>
              <a:pathLst>
                <a:path w="1051560" h="1051560">
                  <a:moveTo>
                    <a:pt x="0" y="0"/>
                  </a:moveTo>
                  <a:lnTo>
                    <a:pt x="1051560" y="0"/>
                  </a:lnTo>
                  <a:lnTo>
                    <a:pt x="1051560" y="1051560"/>
                  </a:lnTo>
                  <a:lnTo>
                    <a:pt x="0" y="1051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61" name="Group 61"/>
          <p:cNvGrpSpPr/>
          <p:nvPr/>
        </p:nvGrpSpPr>
        <p:grpSpPr>
          <a:xfrm>
            <a:off x="10985945" y="3044380"/>
            <a:ext cx="577215" cy="577215"/>
            <a:chOff x="0" y="0"/>
            <a:chExt cx="769620" cy="76962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769620" cy="769620"/>
            </a:xfrm>
            <a:custGeom>
              <a:avLst/>
              <a:gdLst/>
              <a:ahLst/>
              <a:cxnLst/>
              <a:rect l="l" t="t" r="r" b="b"/>
              <a:pathLst>
                <a:path w="769620" h="769620">
                  <a:moveTo>
                    <a:pt x="0" y="384810"/>
                  </a:moveTo>
                  <a:cubicBezTo>
                    <a:pt x="0" y="172339"/>
                    <a:pt x="172339" y="0"/>
                    <a:pt x="384810" y="0"/>
                  </a:cubicBezTo>
                  <a:cubicBezTo>
                    <a:pt x="597281" y="0"/>
                    <a:pt x="769620" y="172339"/>
                    <a:pt x="769620" y="384810"/>
                  </a:cubicBezTo>
                  <a:cubicBezTo>
                    <a:pt x="769620" y="597281"/>
                    <a:pt x="597281" y="769620"/>
                    <a:pt x="384810" y="769620"/>
                  </a:cubicBezTo>
                  <a:cubicBezTo>
                    <a:pt x="172339" y="769620"/>
                    <a:pt x="0" y="597281"/>
                    <a:pt x="0" y="384810"/>
                  </a:cubicBezTo>
                  <a:close/>
                </a:path>
              </a:pathLst>
            </a:custGeom>
            <a:solidFill>
              <a:srgbClr val="02C39A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11000232" y="3058668"/>
            <a:ext cx="548640" cy="548640"/>
            <a:chOff x="0" y="0"/>
            <a:chExt cx="731520" cy="73152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217152" y="4965192"/>
            <a:ext cx="2811780" cy="754380"/>
            <a:chOff x="0" y="0"/>
            <a:chExt cx="3749040" cy="100584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3749040" cy="1005840"/>
            </a:xfrm>
            <a:custGeom>
              <a:avLst/>
              <a:gdLst/>
              <a:ahLst/>
              <a:cxnLst/>
              <a:rect l="l" t="t" r="r" b="b"/>
              <a:pathLst>
                <a:path w="3749040" h="1005840">
                  <a:moveTo>
                    <a:pt x="0" y="0"/>
                  </a:moveTo>
                  <a:lnTo>
                    <a:pt x="3749040" y="0"/>
                  </a:lnTo>
                  <a:lnTo>
                    <a:pt x="3749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26" b="-22626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47625"/>
              <a:ext cx="3749040" cy="1053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73"/>
                </a:lnSpc>
              </a:pPr>
              <a:r>
                <a:rPr lang="en-US" sz="172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Detect Overspending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9148572" y="5733288"/>
            <a:ext cx="2948940" cy="891540"/>
            <a:chOff x="0" y="0"/>
            <a:chExt cx="3931920" cy="118872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3931920" cy="1188720"/>
            </a:xfrm>
            <a:custGeom>
              <a:avLst/>
              <a:gdLst/>
              <a:ahLst/>
              <a:cxnLst/>
              <a:rect l="l" t="t" r="r" b="b"/>
              <a:pathLst>
                <a:path w="3931920" h="1188720">
                  <a:moveTo>
                    <a:pt x="0" y="0"/>
                  </a:moveTo>
                  <a:lnTo>
                    <a:pt x="3931920" y="0"/>
                  </a:lnTo>
                  <a:lnTo>
                    <a:pt x="39319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50" b="-14450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3931920" cy="12268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95"/>
                </a:lnSpc>
              </a:pPr>
              <a:r>
                <a:rPr lang="en-US" sz="1425">
                  <a:solidFill>
                    <a:srgbClr val="6B84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Flag when budgets are at risk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2769596" y="3223260"/>
            <a:ext cx="1577340" cy="1577340"/>
            <a:chOff x="0" y="0"/>
            <a:chExt cx="2103120" cy="210312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2103120" cy="2103120"/>
            </a:xfrm>
            <a:custGeom>
              <a:avLst/>
              <a:gdLst/>
              <a:ahLst/>
              <a:cxnLst/>
              <a:rect l="l" t="t" r="r" b="b"/>
              <a:pathLst>
                <a:path w="2103120" h="2103120">
                  <a:moveTo>
                    <a:pt x="0" y="1051560"/>
                  </a:moveTo>
                  <a:cubicBezTo>
                    <a:pt x="0" y="470789"/>
                    <a:pt x="470789" y="0"/>
                    <a:pt x="1051560" y="0"/>
                  </a:cubicBezTo>
                  <a:cubicBezTo>
                    <a:pt x="1632331" y="0"/>
                    <a:pt x="2103120" y="470789"/>
                    <a:pt x="2103120" y="1051560"/>
                  </a:cubicBezTo>
                  <a:cubicBezTo>
                    <a:pt x="2103120" y="1632331"/>
                    <a:pt x="1632331" y="2103120"/>
                    <a:pt x="1051560" y="2103120"/>
                  </a:cubicBezTo>
                  <a:cubicBezTo>
                    <a:pt x="470789" y="2103120"/>
                    <a:pt x="0" y="1632331"/>
                    <a:pt x="0" y="1051560"/>
                  </a:cubicBezTo>
                  <a:close/>
                </a:path>
              </a:pathLst>
            </a:custGeom>
            <a:solidFill>
              <a:srgbClr val="0B3D59"/>
            </a:solidFill>
          </p:spPr>
        </p:sp>
      </p:grpSp>
      <p:grpSp>
        <p:nvGrpSpPr>
          <p:cNvPr id="74" name="Group 74"/>
          <p:cNvGrpSpPr/>
          <p:nvPr/>
        </p:nvGrpSpPr>
        <p:grpSpPr>
          <a:xfrm>
            <a:off x="13163931" y="3617595"/>
            <a:ext cx="788670" cy="788670"/>
            <a:chOff x="0" y="0"/>
            <a:chExt cx="1051560" cy="1051560"/>
          </a:xfrm>
        </p:grpSpPr>
        <p:sp>
          <p:nvSpPr>
            <p:cNvPr id="75" name="Freeform 75" descr="/home/claude/finance_ppt/icons/piggy_white.png"/>
            <p:cNvSpPr/>
            <p:nvPr/>
          </p:nvSpPr>
          <p:spPr>
            <a:xfrm>
              <a:off x="0" y="0"/>
              <a:ext cx="1051560" cy="1051560"/>
            </a:xfrm>
            <a:custGeom>
              <a:avLst/>
              <a:gdLst/>
              <a:ahLst/>
              <a:cxnLst/>
              <a:rect l="l" t="t" r="r" b="b"/>
              <a:pathLst>
                <a:path w="1051560" h="1051560">
                  <a:moveTo>
                    <a:pt x="0" y="0"/>
                  </a:moveTo>
                  <a:lnTo>
                    <a:pt x="1051560" y="0"/>
                  </a:lnTo>
                  <a:lnTo>
                    <a:pt x="1051560" y="1051560"/>
                  </a:lnTo>
                  <a:lnTo>
                    <a:pt x="0" y="1051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76" name="Group 76"/>
          <p:cNvGrpSpPr/>
          <p:nvPr/>
        </p:nvGrpSpPr>
        <p:grpSpPr>
          <a:xfrm>
            <a:off x="13921168" y="3044380"/>
            <a:ext cx="577215" cy="577215"/>
            <a:chOff x="0" y="0"/>
            <a:chExt cx="769620" cy="76962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769620" cy="769620"/>
            </a:xfrm>
            <a:custGeom>
              <a:avLst/>
              <a:gdLst/>
              <a:ahLst/>
              <a:cxnLst/>
              <a:rect l="l" t="t" r="r" b="b"/>
              <a:pathLst>
                <a:path w="769620" h="769620">
                  <a:moveTo>
                    <a:pt x="0" y="384810"/>
                  </a:moveTo>
                  <a:cubicBezTo>
                    <a:pt x="0" y="172339"/>
                    <a:pt x="172339" y="0"/>
                    <a:pt x="384810" y="0"/>
                  </a:cubicBezTo>
                  <a:cubicBezTo>
                    <a:pt x="597281" y="0"/>
                    <a:pt x="769620" y="172339"/>
                    <a:pt x="769620" y="384810"/>
                  </a:cubicBezTo>
                  <a:cubicBezTo>
                    <a:pt x="769620" y="597281"/>
                    <a:pt x="597281" y="769620"/>
                    <a:pt x="384810" y="769620"/>
                  </a:cubicBezTo>
                  <a:cubicBezTo>
                    <a:pt x="172339" y="769620"/>
                    <a:pt x="0" y="597281"/>
                    <a:pt x="0" y="384810"/>
                  </a:cubicBezTo>
                  <a:close/>
                </a:path>
              </a:pathLst>
            </a:custGeom>
            <a:solidFill>
              <a:srgbClr val="02C39A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78" name="Group 78"/>
          <p:cNvGrpSpPr/>
          <p:nvPr/>
        </p:nvGrpSpPr>
        <p:grpSpPr>
          <a:xfrm>
            <a:off x="13935456" y="3058668"/>
            <a:ext cx="548640" cy="548640"/>
            <a:chOff x="0" y="0"/>
            <a:chExt cx="731520" cy="73152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2152376" y="4965192"/>
            <a:ext cx="2811780" cy="754380"/>
            <a:chOff x="0" y="0"/>
            <a:chExt cx="3749040" cy="100584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3749040" cy="1005840"/>
            </a:xfrm>
            <a:custGeom>
              <a:avLst/>
              <a:gdLst/>
              <a:ahLst/>
              <a:cxnLst/>
              <a:rect l="l" t="t" r="r" b="b"/>
              <a:pathLst>
                <a:path w="3749040" h="1005840">
                  <a:moveTo>
                    <a:pt x="0" y="0"/>
                  </a:moveTo>
                  <a:lnTo>
                    <a:pt x="3749040" y="0"/>
                  </a:lnTo>
                  <a:lnTo>
                    <a:pt x="3749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26" b="-22626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47625"/>
              <a:ext cx="3749040" cy="1053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73"/>
                </a:lnSpc>
              </a:pPr>
              <a:r>
                <a:rPr lang="en-US" sz="172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Calculate Impact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2083796" y="5733288"/>
            <a:ext cx="2948940" cy="891540"/>
            <a:chOff x="0" y="0"/>
            <a:chExt cx="3931920" cy="118872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3931920" cy="1188720"/>
            </a:xfrm>
            <a:custGeom>
              <a:avLst/>
              <a:gdLst/>
              <a:ahLst/>
              <a:cxnLst/>
              <a:rect l="l" t="t" r="r" b="b"/>
              <a:pathLst>
                <a:path w="3931920" h="1188720">
                  <a:moveTo>
                    <a:pt x="0" y="0"/>
                  </a:moveTo>
                  <a:lnTo>
                    <a:pt x="3931920" y="0"/>
                  </a:lnTo>
                  <a:lnTo>
                    <a:pt x="39319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50" b="-14450"/>
              </a:stretch>
            </a:blipFill>
          </p:spPr>
        </p:sp>
        <p:sp>
          <p:nvSpPr>
            <p:cNvPr id="86" name="TextBox 86"/>
            <p:cNvSpPr txBox="1"/>
            <p:nvPr/>
          </p:nvSpPr>
          <p:spPr>
            <a:xfrm>
              <a:off x="0" y="-38100"/>
              <a:ext cx="3931920" cy="12268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95"/>
                </a:lnSpc>
              </a:pPr>
              <a:r>
                <a:rPr lang="en-US" sz="1425">
                  <a:solidFill>
                    <a:srgbClr val="6B84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Translate overspend into savings loss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5704820" y="3223260"/>
            <a:ext cx="1577340" cy="1577340"/>
            <a:chOff x="0" y="0"/>
            <a:chExt cx="2103120" cy="210312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2103120" cy="2103120"/>
            </a:xfrm>
            <a:custGeom>
              <a:avLst/>
              <a:gdLst/>
              <a:ahLst/>
              <a:cxnLst/>
              <a:rect l="l" t="t" r="r" b="b"/>
              <a:pathLst>
                <a:path w="2103120" h="2103120">
                  <a:moveTo>
                    <a:pt x="0" y="1051560"/>
                  </a:moveTo>
                  <a:cubicBezTo>
                    <a:pt x="0" y="470789"/>
                    <a:pt x="470789" y="0"/>
                    <a:pt x="1051560" y="0"/>
                  </a:cubicBezTo>
                  <a:cubicBezTo>
                    <a:pt x="1632331" y="0"/>
                    <a:pt x="2103120" y="470789"/>
                    <a:pt x="2103120" y="1051560"/>
                  </a:cubicBezTo>
                  <a:cubicBezTo>
                    <a:pt x="2103120" y="1632331"/>
                    <a:pt x="1632331" y="2103120"/>
                    <a:pt x="1051560" y="2103120"/>
                  </a:cubicBezTo>
                  <a:cubicBezTo>
                    <a:pt x="470789" y="2103120"/>
                    <a:pt x="0" y="1632331"/>
                    <a:pt x="0" y="1051560"/>
                  </a:cubicBezTo>
                  <a:close/>
                </a:path>
              </a:pathLst>
            </a:custGeom>
            <a:solidFill>
              <a:srgbClr val="0B3D59"/>
            </a:solidFill>
          </p:spPr>
        </p:sp>
      </p:grpSp>
      <p:grpSp>
        <p:nvGrpSpPr>
          <p:cNvPr id="89" name="Group 89"/>
          <p:cNvGrpSpPr/>
          <p:nvPr/>
        </p:nvGrpSpPr>
        <p:grpSpPr>
          <a:xfrm>
            <a:off x="16099155" y="3617595"/>
            <a:ext cx="788670" cy="788670"/>
            <a:chOff x="0" y="0"/>
            <a:chExt cx="1051560" cy="1051560"/>
          </a:xfrm>
        </p:grpSpPr>
        <p:sp>
          <p:nvSpPr>
            <p:cNvPr id="90" name="Freeform 90" descr="/home/claude/finance_ppt/icons/shield_white.png"/>
            <p:cNvSpPr/>
            <p:nvPr/>
          </p:nvSpPr>
          <p:spPr>
            <a:xfrm>
              <a:off x="0" y="0"/>
              <a:ext cx="1051560" cy="1051560"/>
            </a:xfrm>
            <a:custGeom>
              <a:avLst/>
              <a:gdLst/>
              <a:ahLst/>
              <a:cxnLst/>
              <a:rect l="l" t="t" r="r" b="b"/>
              <a:pathLst>
                <a:path w="1051560" h="1051560">
                  <a:moveTo>
                    <a:pt x="0" y="0"/>
                  </a:moveTo>
                  <a:lnTo>
                    <a:pt x="1051560" y="0"/>
                  </a:lnTo>
                  <a:lnTo>
                    <a:pt x="1051560" y="1051560"/>
                  </a:lnTo>
                  <a:lnTo>
                    <a:pt x="0" y="1051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91" name="Group 91"/>
          <p:cNvGrpSpPr/>
          <p:nvPr/>
        </p:nvGrpSpPr>
        <p:grpSpPr>
          <a:xfrm>
            <a:off x="16856392" y="3044380"/>
            <a:ext cx="577215" cy="577215"/>
            <a:chOff x="0" y="0"/>
            <a:chExt cx="769620" cy="76962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769620" cy="769620"/>
            </a:xfrm>
            <a:custGeom>
              <a:avLst/>
              <a:gdLst/>
              <a:ahLst/>
              <a:cxnLst/>
              <a:rect l="l" t="t" r="r" b="b"/>
              <a:pathLst>
                <a:path w="769620" h="769620">
                  <a:moveTo>
                    <a:pt x="0" y="384810"/>
                  </a:moveTo>
                  <a:cubicBezTo>
                    <a:pt x="0" y="172339"/>
                    <a:pt x="172339" y="0"/>
                    <a:pt x="384810" y="0"/>
                  </a:cubicBezTo>
                  <a:cubicBezTo>
                    <a:pt x="597281" y="0"/>
                    <a:pt x="769620" y="172339"/>
                    <a:pt x="769620" y="384810"/>
                  </a:cubicBezTo>
                  <a:cubicBezTo>
                    <a:pt x="769620" y="597281"/>
                    <a:pt x="597281" y="769620"/>
                    <a:pt x="384810" y="769620"/>
                  </a:cubicBezTo>
                  <a:cubicBezTo>
                    <a:pt x="172339" y="769620"/>
                    <a:pt x="0" y="597281"/>
                    <a:pt x="0" y="384810"/>
                  </a:cubicBezTo>
                  <a:close/>
                </a:path>
              </a:pathLst>
            </a:custGeom>
            <a:solidFill>
              <a:srgbClr val="02C39A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93" name="Group 93"/>
          <p:cNvGrpSpPr/>
          <p:nvPr/>
        </p:nvGrpSpPr>
        <p:grpSpPr>
          <a:xfrm>
            <a:off x="16870680" y="3058668"/>
            <a:ext cx="548640" cy="548640"/>
            <a:chOff x="0" y="0"/>
            <a:chExt cx="731520" cy="73152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95" name="TextBox 95"/>
            <p:cNvSpPr txBox="1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15087600" y="4965192"/>
            <a:ext cx="2811780" cy="754380"/>
            <a:chOff x="0" y="0"/>
            <a:chExt cx="3749040" cy="100584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3749040" cy="1005840"/>
            </a:xfrm>
            <a:custGeom>
              <a:avLst/>
              <a:gdLst/>
              <a:ahLst/>
              <a:cxnLst/>
              <a:rect l="l" t="t" r="r" b="b"/>
              <a:pathLst>
                <a:path w="3749040" h="1005840">
                  <a:moveTo>
                    <a:pt x="0" y="0"/>
                  </a:moveTo>
                  <a:lnTo>
                    <a:pt x="3749040" y="0"/>
                  </a:lnTo>
                  <a:lnTo>
                    <a:pt x="3749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26" b="-22626"/>
              </a:stretch>
            </a:blipFill>
          </p:spPr>
        </p:sp>
        <p:sp>
          <p:nvSpPr>
            <p:cNvPr id="98" name="TextBox 98"/>
            <p:cNvSpPr txBox="1"/>
            <p:nvPr/>
          </p:nvSpPr>
          <p:spPr>
            <a:xfrm>
              <a:off x="0" y="-47625"/>
              <a:ext cx="3749040" cy="1053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73"/>
                </a:lnSpc>
              </a:pPr>
              <a:r>
                <a:rPr lang="en-US" sz="172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Recommend Action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5019020" y="5733288"/>
            <a:ext cx="2948940" cy="891540"/>
            <a:chOff x="0" y="0"/>
            <a:chExt cx="3931920" cy="1188720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3931920" cy="1188720"/>
            </a:xfrm>
            <a:custGeom>
              <a:avLst/>
              <a:gdLst/>
              <a:ahLst/>
              <a:cxnLst/>
              <a:rect l="l" t="t" r="r" b="b"/>
              <a:pathLst>
                <a:path w="3931920" h="1188720">
                  <a:moveTo>
                    <a:pt x="0" y="0"/>
                  </a:moveTo>
                  <a:lnTo>
                    <a:pt x="3931920" y="0"/>
                  </a:lnTo>
                  <a:lnTo>
                    <a:pt x="39319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50" b="-14450"/>
              </a:stretch>
            </a:blipFill>
          </p:spPr>
        </p:sp>
        <p:sp>
          <p:nvSpPr>
            <p:cNvPr id="101" name="TextBox 101"/>
            <p:cNvSpPr txBox="1"/>
            <p:nvPr/>
          </p:nvSpPr>
          <p:spPr>
            <a:xfrm>
              <a:off x="0" y="-38100"/>
              <a:ext cx="3931920" cy="12268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95"/>
                </a:lnSpc>
              </a:pPr>
              <a:r>
                <a:rPr lang="en-US" sz="1425">
                  <a:solidFill>
                    <a:srgbClr val="6B84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Suggest how to control spending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813435" y="8014335"/>
            <a:ext cx="16615410" cy="1596390"/>
            <a:chOff x="0" y="0"/>
            <a:chExt cx="22153880" cy="2128520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22153880" cy="2128520"/>
            </a:xfrm>
            <a:custGeom>
              <a:avLst/>
              <a:gdLst/>
              <a:ahLst/>
              <a:cxnLst/>
              <a:rect l="l" t="t" r="r" b="b"/>
              <a:pathLst>
                <a:path w="22153880" h="2128520">
                  <a:moveTo>
                    <a:pt x="0" y="166624"/>
                  </a:moveTo>
                  <a:cubicBezTo>
                    <a:pt x="0" y="74549"/>
                    <a:pt x="74549" y="0"/>
                    <a:pt x="166624" y="0"/>
                  </a:cubicBezTo>
                  <a:lnTo>
                    <a:pt x="21987256" y="0"/>
                  </a:lnTo>
                  <a:cubicBezTo>
                    <a:pt x="22079204" y="0"/>
                    <a:pt x="22153880" y="74549"/>
                    <a:pt x="22153880" y="166624"/>
                  </a:cubicBezTo>
                  <a:lnTo>
                    <a:pt x="22153880" y="1961896"/>
                  </a:lnTo>
                  <a:cubicBezTo>
                    <a:pt x="22153880" y="2053844"/>
                    <a:pt x="22079331" y="2128520"/>
                    <a:pt x="21987256" y="2128520"/>
                  </a:cubicBezTo>
                  <a:lnTo>
                    <a:pt x="166624" y="2128520"/>
                  </a:lnTo>
                  <a:cubicBezTo>
                    <a:pt x="74549" y="2128520"/>
                    <a:pt x="0" y="2053971"/>
                    <a:pt x="0" y="1961896"/>
                  </a:cubicBezTo>
                  <a:close/>
                </a:path>
              </a:pathLst>
            </a:custGeom>
            <a:solidFill>
              <a:srgbClr val="F4F8FA"/>
            </a:solidFill>
            <a:ln w="19050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id="104" name="Group 104"/>
          <p:cNvGrpSpPr/>
          <p:nvPr/>
        </p:nvGrpSpPr>
        <p:grpSpPr>
          <a:xfrm>
            <a:off x="1234440" y="8023860"/>
            <a:ext cx="15773400" cy="1577340"/>
            <a:chOff x="0" y="0"/>
            <a:chExt cx="21031200" cy="2103120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21031200" cy="2103120"/>
            </a:xfrm>
            <a:custGeom>
              <a:avLst/>
              <a:gdLst/>
              <a:ahLst/>
              <a:cxnLst/>
              <a:rect l="l" t="t" r="r" b="b"/>
              <a:pathLst>
                <a:path w="21031200" h="2103120">
                  <a:moveTo>
                    <a:pt x="0" y="0"/>
                  </a:moveTo>
                  <a:lnTo>
                    <a:pt x="21031200" y="0"/>
                  </a:lnTo>
                  <a:lnTo>
                    <a:pt x="2103120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106" name="TextBox 106"/>
            <p:cNvSpPr txBox="1"/>
            <p:nvPr/>
          </p:nvSpPr>
          <p:spPr>
            <a:xfrm>
              <a:off x="0" y="-66675"/>
              <a:ext cx="21031200" cy="21697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76"/>
                </a:lnSpc>
              </a:pPr>
              <a:r>
                <a:rPr lang="en-US" sz="1650" b="1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MAIN IDEA</a:t>
              </a:r>
            </a:p>
            <a:p>
              <a:pPr algn="l">
                <a:lnSpc>
                  <a:spcPts val="2916"/>
                </a:lnSpc>
              </a:pPr>
              <a:r>
                <a:rPr lang="en-US" sz="202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Track Spending  →  Predict Future Spending  →  Detect Overspending  →  Show Savings Impact  →  Recommend Action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7323308" y="9669780"/>
            <a:ext cx="548640" cy="411480"/>
            <a:chOff x="0" y="0"/>
            <a:chExt cx="731520" cy="548640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731520" cy="548640"/>
            </a:xfrm>
            <a:custGeom>
              <a:avLst/>
              <a:gdLst/>
              <a:ahLst/>
              <a:cxnLst/>
              <a:rect l="l" t="t" r="r" b="b"/>
              <a:pathLst>
                <a:path w="731520" h="54864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109" name="TextBox 109"/>
            <p:cNvSpPr txBox="1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84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685800" y="9669780"/>
            <a:ext cx="8229600" cy="411480"/>
            <a:chOff x="0" y="0"/>
            <a:chExt cx="10972800" cy="548640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12" name="TextBox 112"/>
            <p:cNvSpPr txBox="1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84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PERSONAL FINANCE EXPENSE ANALYZER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76072"/>
            <a:ext cx="13716000" cy="480060"/>
            <a:chOff x="0" y="0"/>
            <a:chExt cx="182880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640080"/>
            </a:xfrm>
            <a:custGeom>
              <a:avLst/>
              <a:gdLst/>
              <a:ahLst/>
              <a:cxnLst/>
              <a:rect l="l" t="t" r="r" b="b"/>
              <a:pathLst>
                <a:path w="18288000" h="64008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15" b="-506715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28800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299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DESIGN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987552"/>
            <a:ext cx="15773400" cy="960120"/>
            <a:chOff x="0" y="0"/>
            <a:chExt cx="21031200" cy="12801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11" b="-27011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0B3D5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How the System Works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99090" y="2388394"/>
            <a:ext cx="2972752" cy="1601152"/>
            <a:chOff x="0" y="0"/>
            <a:chExt cx="3963670" cy="21348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963670" cy="2134870"/>
            </a:xfrm>
            <a:custGeom>
              <a:avLst/>
              <a:gdLst/>
              <a:ahLst/>
              <a:cxnLst/>
              <a:rect l="l" t="t" r="r" b="b"/>
              <a:pathLst>
                <a:path w="3963670" h="2134870">
                  <a:moveTo>
                    <a:pt x="0" y="148463"/>
                  </a:moveTo>
                  <a:cubicBezTo>
                    <a:pt x="0" y="66548"/>
                    <a:pt x="66548" y="0"/>
                    <a:pt x="148463" y="0"/>
                  </a:cubicBezTo>
                  <a:lnTo>
                    <a:pt x="3815207" y="0"/>
                  </a:lnTo>
                  <a:cubicBezTo>
                    <a:pt x="3897249" y="0"/>
                    <a:pt x="3963670" y="66548"/>
                    <a:pt x="3963670" y="148463"/>
                  </a:cubicBezTo>
                  <a:lnTo>
                    <a:pt x="3963670" y="1986407"/>
                  </a:lnTo>
                  <a:cubicBezTo>
                    <a:pt x="3963670" y="2068449"/>
                    <a:pt x="3897122" y="2134870"/>
                    <a:pt x="3815207" y="2134870"/>
                  </a:cubicBezTo>
                  <a:lnTo>
                    <a:pt x="148463" y="2134870"/>
                  </a:lnTo>
                  <a:cubicBezTo>
                    <a:pt x="66548" y="2134870"/>
                    <a:pt x="0" y="2068322"/>
                    <a:pt x="0" y="1986407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193292" y="2455164"/>
            <a:ext cx="480060" cy="384048"/>
            <a:chOff x="0" y="0"/>
            <a:chExt cx="640080" cy="5120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080" cy="512064"/>
            </a:xfrm>
            <a:custGeom>
              <a:avLst/>
              <a:gdLst/>
              <a:ahLst/>
              <a:cxnLst/>
              <a:rect l="l" t="t" r="r" b="b"/>
              <a:pathLst>
                <a:path w="640080" h="512064">
                  <a:moveTo>
                    <a:pt x="0" y="0"/>
                  </a:moveTo>
                  <a:lnTo>
                    <a:pt x="640080" y="0"/>
                  </a:lnTo>
                  <a:lnTo>
                    <a:pt x="6400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r="-5264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64008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20724" y="2606040"/>
            <a:ext cx="2729484" cy="1303020"/>
            <a:chOff x="0" y="0"/>
            <a:chExt cx="3639312" cy="17373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639312" cy="1737360"/>
            </a:xfrm>
            <a:custGeom>
              <a:avLst/>
              <a:gdLst/>
              <a:ahLst/>
              <a:cxnLst/>
              <a:rect l="l" t="t" r="r" b="b"/>
              <a:pathLst>
                <a:path w="3639312" h="1737360">
                  <a:moveTo>
                    <a:pt x="0" y="0"/>
                  </a:moveTo>
                  <a:lnTo>
                    <a:pt x="3639312" y="0"/>
                  </a:lnTo>
                  <a:lnTo>
                    <a:pt x="3639312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250" r="-11250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3639312" cy="17659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7"/>
                </a:lnSpc>
              </a:pPr>
              <a:r>
                <a:rPr lang="en-US" sz="157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Manual Transaction</a:t>
              </a:r>
            </a:p>
            <a:p>
              <a:pPr algn="ctr">
                <a:lnSpc>
                  <a:spcPts val="1927"/>
                </a:lnSpc>
              </a:pPr>
              <a:r>
                <a:rPr lang="en-US" sz="157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Entry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059936" y="3038094"/>
            <a:ext cx="301752" cy="301752"/>
            <a:chOff x="0" y="0"/>
            <a:chExt cx="402336" cy="402336"/>
          </a:xfrm>
        </p:grpSpPr>
        <p:sp>
          <p:nvSpPr>
            <p:cNvPr id="17" name="Freeform 17" descr="/home/claude/finance_ppt/icons/arrowright_teal.png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4377214" y="2388394"/>
            <a:ext cx="2972752" cy="1601152"/>
            <a:chOff x="0" y="0"/>
            <a:chExt cx="3963670" cy="21348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963670" cy="2134870"/>
            </a:xfrm>
            <a:custGeom>
              <a:avLst/>
              <a:gdLst/>
              <a:ahLst/>
              <a:cxnLst/>
              <a:rect l="l" t="t" r="r" b="b"/>
              <a:pathLst>
                <a:path w="3963670" h="2134870">
                  <a:moveTo>
                    <a:pt x="0" y="148463"/>
                  </a:moveTo>
                  <a:cubicBezTo>
                    <a:pt x="0" y="66548"/>
                    <a:pt x="66548" y="0"/>
                    <a:pt x="148463" y="0"/>
                  </a:cubicBezTo>
                  <a:lnTo>
                    <a:pt x="3815207" y="0"/>
                  </a:lnTo>
                  <a:cubicBezTo>
                    <a:pt x="3897249" y="0"/>
                    <a:pt x="3963670" y="66548"/>
                    <a:pt x="3963670" y="148463"/>
                  </a:cubicBezTo>
                  <a:lnTo>
                    <a:pt x="3963670" y="1986407"/>
                  </a:lnTo>
                  <a:cubicBezTo>
                    <a:pt x="3963670" y="2068449"/>
                    <a:pt x="3897122" y="2134870"/>
                    <a:pt x="3815207" y="2134870"/>
                  </a:cubicBezTo>
                  <a:lnTo>
                    <a:pt x="148463" y="2134870"/>
                  </a:lnTo>
                  <a:cubicBezTo>
                    <a:pt x="66548" y="2134870"/>
                    <a:pt x="0" y="2068322"/>
                    <a:pt x="0" y="1986407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4471416" y="2455164"/>
            <a:ext cx="480060" cy="384048"/>
            <a:chOff x="0" y="0"/>
            <a:chExt cx="640080" cy="51206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40080" cy="512064"/>
            </a:xfrm>
            <a:custGeom>
              <a:avLst/>
              <a:gdLst/>
              <a:ahLst/>
              <a:cxnLst/>
              <a:rect l="l" t="t" r="r" b="b"/>
              <a:pathLst>
                <a:path w="640080" h="512064">
                  <a:moveTo>
                    <a:pt x="0" y="0"/>
                  </a:moveTo>
                  <a:lnTo>
                    <a:pt x="640080" y="0"/>
                  </a:lnTo>
                  <a:lnTo>
                    <a:pt x="6400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r="-52642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64008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498848" y="2606040"/>
            <a:ext cx="2729484" cy="1303020"/>
            <a:chOff x="0" y="0"/>
            <a:chExt cx="3639312" cy="17373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639312" cy="1737360"/>
            </a:xfrm>
            <a:custGeom>
              <a:avLst/>
              <a:gdLst/>
              <a:ahLst/>
              <a:cxnLst/>
              <a:rect l="l" t="t" r="r" b="b"/>
              <a:pathLst>
                <a:path w="3639312" h="1737360">
                  <a:moveTo>
                    <a:pt x="0" y="0"/>
                  </a:moveTo>
                  <a:lnTo>
                    <a:pt x="3639312" y="0"/>
                  </a:lnTo>
                  <a:lnTo>
                    <a:pt x="3639312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250" r="-11250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3639312" cy="17659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7"/>
                </a:lnSpc>
              </a:pPr>
              <a:r>
                <a:rPr lang="en-US" sz="157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Store Transaction</a:t>
              </a:r>
            </a:p>
            <a:p>
              <a:pPr algn="ctr">
                <a:lnSpc>
                  <a:spcPts val="1927"/>
                </a:lnSpc>
              </a:pPr>
              <a:r>
                <a:rPr lang="en-US" sz="157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 Database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338060" y="3038094"/>
            <a:ext cx="301752" cy="301752"/>
            <a:chOff x="0" y="0"/>
            <a:chExt cx="402336" cy="402336"/>
          </a:xfrm>
        </p:grpSpPr>
        <p:sp>
          <p:nvSpPr>
            <p:cNvPr id="27" name="Freeform 27" descr="/home/claude/finance_ppt/icons/arrowright_teal.png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7655338" y="2388394"/>
            <a:ext cx="2972752" cy="1601152"/>
            <a:chOff x="0" y="0"/>
            <a:chExt cx="3963670" cy="213487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963670" cy="2134870"/>
            </a:xfrm>
            <a:custGeom>
              <a:avLst/>
              <a:gdLst/>
              <a:ahLst/>
              <a:cxnLst/>
              <a:rect l="l" t="t" r="r" b="b"/>
              <a:pathLst>
                <a:path w="3963670" h="2134870">
                  <a:moveTo>
                    <a:pt x="0" y="148463"/>
                  </a:moveTo>
                  <a:cubicBezTo>
                    <a:pt x="0" y="66548"/>
                    <a:pt x="66548" y="0"/>
                    <a:pt x="148463" y="0"/>
                  </a:cubicBezTo>
                  <a:lnTo>
                    <a:pt x="3815207" y="0"/>
                  </a:lnTo>
                  <a:cubicBezTo>
                    <a:pt x="3897249" y="0"/>
                    <a:pt x="3963670" y="66548"/>
                    <a:pt x="3963670" y="148463"/>
                  </a:cubicBezTo>
                  <a:lnTo>
                    <a:pt x="3963670" y="1986407"/>
                  </a:lnTo>
                  <a:cubicBezTo>
                    <a:pt x="3963670" y="2068449"/>
                    <a:pt x="3897122" y="2134870"/>
                    <a:pt x="3815207" y="2134870"/>
                  </a:cubicBezTo>
                  <a:lnTo>
                    <a:pt x="148463" y="2134870"/>
                  </a:lnTo>
                  <a:cubicBezTo>
                    <a:pt x="66548" y="2134870"/>
                    <a:pt x="0" y="2068322"/>
                    <a:pt x="0" y="1986407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7749540" y="2455164"/>
            <a:ext cx="480060" cy="384048"/>
            <a:chOff x="0" y="0"/>
            <a:chExt cx="640080" cy="51206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40080" cy="512064"/>
            </a:xfrm>
            <a:custGeom>
              <a:avLst/>
              <a:gdLst/>
              <a:ahLst/>
              <a:cxnLst/>
              <a:rect l="l" t="t" r="r" b="b"/>
              <a:pathLst>
                <a:path w="640080" h="512064">
                  <a:moveTo>
                    <a:pt x="0" y="0"/>
                  </a:moveTo>
                  <a:lnTo>
                    <a:pt x="640080" y="0"/>
                  </a:lnTo>
                  <a:lnTo>
                    <a:pt x="6400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r="-52642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64008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776972" y="2606040"/>
            <a:ext cx="2729484" cy="1303020"/>
            <a:chOff x="0" y="0"/>
            <a:chExt cx="3639312" cy="173736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639312" cy="1737360"/>
            </a:xfrm>
            <a:custGeom>
              <a:avLst/>
              <a:gdLst/>
              <a:ahLst/>
              <a:cxnLst/>
              <a:rect l="l" t="t" r="r" b="b"/>
              <a:pathLst>
                <a:path w="3639312" h="1737360">
                  <a:moveTo>
                    <a:pt x="0" y="0"/>
                  </a:moveTo>
                  <a:lnTo>
                    <a:pt x="3639312" y="0"/>
                  </a:lnTo>
                  <a:lnTo>
                    <a:pt x="3639312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250" r="-11250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3639312" cy="17659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7"/>
                </a:lnSpc>
              </a:pPr>
              <a:r>
                <a:rPr lang="en-US" sz="157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Expense</a:t>
              </a:r>
            </a:p>
            <a:p>
              <a:pPr algn="ctr">
                <a:lnSpc>
                  <a:spcPts val="1927"/>
                </a:lnSpc>
              </a:pPr>
              <a:r>
                <a:rPr lang="en-US" sz="157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Categorization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616184" y="3038094"/>
            <a:ext cx="301752" cy="301752"/>
            <a:chOff x="0" y="0"/>
            <a:chExt cx="402336" cy="402336"/>
          </a:xfrm>
        </p:grpSpPr>
        <p:sp>
          <p:nvSpPr>
            <p:cNvPr id="37" name="Freeform 37" descr="/home/claude/finance_ppt/icons/arrowright_teal.png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>
            <a:off x="10933462" y="2388394"/>
            <a:ext cx="2972752" cy="1601152"/>
            <a:chOff x="0" y="0"/>
            <a:chExt cx="3963670" cy="213487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963670" cy="2134870"/>
            </a:xfrm>
            <a:custGeom>
              <a:avLst/>
              <a:gdLst/>
              <a:ahLst/>
              <a:cxnLst/>
              <a:rect l="l" t="t" r="r" b="b"/>
              <a:pathLst>
                <a:path w="3963670" h="2134870">
                  <a:moveTo>
                    <a:pt x="0" y="148463"/>
                  </a:moveTo>
                  <a:cubicBezTo>
                    <a:pt x="0" y="66548"/>
                    <a:pt x="66548" y="0"/>
                    <a:pt x="148463" y="0"/>
                  </a:cubicBezTo>
                  <a:lnTo>
                    <a:pt x="3815207" y="0"/>
                  </a:lnTo>
                  <a:cubicBezTo>
                    <a:pt x="3897249" y="0"/>
                    <a:pt x="3963670" y="66548"/>
                    <a:pt x="3963670" y="148463"/>
                  </a:cubicBezTo>
                  <a:lnTo>
                    <a:pt x="3963670" y="1986407"/>
                  </a:lnTo>
                  <a:cubicBezTo>
                    <a:pt x="3963670" y="2068449"/>
                    <a:pt x="3897122" y="2134870"/>
                    <a:pt x="3815207" y="2134870"/>
                  </a:cubicBezTo>
                  <a:lnTo>
                    <a:pt x="148463" y="2134870"/>
                  </a:lnTo>
                  <a:cubicBezTo>
                    <a:pt x="66548" y="2134870"/>
                    <a:pt x="0" y="2068322"/>
                    <a:pt x="0" y="1986407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11027664" y="2455164"/>
            <a:ext cx="480060" cy="384048"/>
            <a:chOff x="0" y="0"/>
            <a:chExt cx="640080" cy="51206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40080" cy="512064"/>
            </a:xfrm>
            <a:custGeom>
              <a:avLst/>
              <a:gdLst/>
              <a:ahLst/>
              <a:cxnLst/>
              <a:rect l="l" t="t" r="r" b="b"/>
              <a:pathLst>
                <a:path w="640080" h="512064">
                  <a:moveTo>
                    <a:pt x="0" y="0"/>
                  </a:moveTo>
                  <a:lnTo>
                    <a:pt x="640080" y="0"/>
                  </a:lnTo>
                  <a:lnTo>
                    <a:pt x="6400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r="-52642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64008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1055096" y="2606040"/>
            <a:ext cx="2729484" cy="1303020"/>
            <a:chOff x="0" y="0"/>
            <a:chExt cx="3639312" cy="173736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639312" cy="1737360"/>
            </a:xfrm>
            <a:custGeom>
              <a:avLst/>
              <a:gdLst/>
              <a:ahLst/>
              <a:cxnLst/>
              <a:rect l="l" t="t" r="r" b="b"/>
              <a:pathLst>
                <a:path w="3639312" h="1737360">
                  <a:moveTo>
                    <a:pt x="0" y="0"/>
                  </a:moveTo>
                  <a:lnTo>
                    <a:pt x="3639312" y="0"/>
                  </a:lnTo>
                  <a:lnTo>
                    <a:pt x="3639312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250" r="-11250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28575"/>
              <a:ext cx="3639312" cy="17659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7"/>
                </a:lnSpc>
              </a:pPr>
              <a:r>
                <a:rPr lang="en-US" sz="157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Category-wise</a:t>
              </a:r>
            </a:p>
            <a:p>
              <a:pPr algn="ctr">
                <a:lnSpc>
                  <a:spcPts val="1927"/>
                </a:lnSpc>
              </a:pPr>
              <a:r>
                <a:rPr lang="en-US" sz="157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Spending Analysis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3894308" y="3038094"/>
            <a:ext cx="301752" cy="301752"/>
            <a:chOff x="0" y="0"/>
            <a:chExt cx="402336" cy="402336"/>
          </a:xfrm>
        </p:grpSpPr>
        <p:sp>
          <p:nvSpPr>
            <p:cNvPr id="47" name="Freeform 47" descr="/home/claude/finance_ppt/icons/arrowright_teal.png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48" name="Group 48"/>
          <p:cNvGrpSpPr/>
          <p:nvPr/>
        </p:nvGrpSpPr>
        <p:grpSpPr>
          <a:xfrm>
            <a:off x="14211586" y="2388394"/>
            <a:ext cx="2972752" cy="1601152"/>
            <a:chOff x="0" y="0"/>
            <a:chExt cx="3963670" cy="213487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963670" cy="2134870"/>
            </a:xfrm>
            <a:custGeom>
              <a:avLst/>
              <a:gdLst/>
              <a:ahLst/>
              <a:cxnLst/>
              <a:rect l="l" t="t" r="r" b="b"/>
              <a:pathLst>
                <a:path w="3963670" h="2134870">
                  <a:moveTo>
                    <a:pt x="0" y="148463"/>
                  </a:moveTo>
                  <a:cubicBezTo>
                    <a:pt x="0" y="66548"/>
                    <a:pt x="66548" y="0"/>
                    <a:pt x="148463" y="0"/>
                  </a:cubicBezTo>
                  <a:lnTo>
                    <a:pt x="3815207" y="0"/>
                  </a:lnTo>
                  <a:cubicBezTo>
                    <a:pt x="3897249" y="0"/>
                    <a:pt x="3963670" y="66548"/>
                    <a:pt x="3963670" y="148463"/>
                  </a:cubicBezTo>
                  <a:lnTo>
                    <a:pt x="3963670" y="1986407"/>
                  </a:lnTo>
                  <a:cubicBezTo>
                    <a:pt x="3963670" y="2068449"/>
                    <a:pt x="3897122" y="2134870"/>
                    <a:pt x="3815207" y="2134870"/>
                  </a:cubicBezTo>
                  <a:lnTo>
                    <a:pt x="148463" y="2134870"/>
                  </a:lnTo>
                  <a:cubicBezTo>
                    <a:pt x="66548" y="2134870"/>
                    <a:pt x="0" y="2068322"/>
                    <a:pt x="0" y="1986407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14305788" y="2455164"/>
            <a:ext cx="480060" cy="384048"/>
            <a:chOff x="0" y="0"/>
            <a:chExt cx="640080" cy="512064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40080" cy="512064"/>
            </a:xfrm>
            <a:custGeom>
              <a:avLst/>
              <a:gdLst/>
              <a:ahLst/>
              <a:cxnLst/>
              <a:rect l="l" t="t" r="r" b="b"/>
              <a:pathLst>
                <a:path w="640080" h="512064">
                  <a:moveTo>
                    <a:pt x="0" y="0"/>
                  </a:moveTo>
                  <a:lnTo>
                    <a:pt x="640080" y="0"/>
                  </a:lnTo>
                  <a:lnTo>
                    <a:pt x="6400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r="-52642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28575"/>
              <a:ext cx="64008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4333220" y="2606040"/>
            <a:ext cx="2729484" cy="1303020"/>
            <a:chOff x="0" y="0"/>
            <a:chExt cx="3639312" cy="173736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639312" cy="1737360"/>
            </a:xfrm>
            <a:custGeom>
              <a:avLst/>
              <a:gdLst/>
              <a:ahLst/>
              <a:cxnLst/>
              <a:rect l="l" t="t" r="r" b="b"/>
              <a:pathLst>
                <a:path w="3639312" h="1737360">
                  <a:moveTo>
                    <a:pt x="0" y="0"/>
                  </a:moveTo>
                  <a:lnTo>
                    <a:pt x="3639312" y="0"/>
                  </a:lnTo>
                  <a:lnTo>
                    <a:pt x="3639312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250" r="-11250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28575"/>
              <a:ext cx="3639312" cy="17659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7"/>
                </a:lnSpc>
              </a:pPr>
              <a:r>
                <a:rPr lang="en-US" sz="157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Spending</a:t>
              </a:r>
            </a:p>
            <a:p>
              <a:pPr algn="ctr">
                <a:lnSpc>
                  <a:spcPts val="1927"/>
                </a:lnSpc>
              </a:pPr>
              <a:r>
                <a:rPr lang="en-US" sz="157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Prediction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5547086" y="4087368"/>
            <a:ext cx="301752" cy="301752"/>
            <a:chOff x="0" y="0"/>
            <a:chExt cx="402336" cy="402336"/>
          </a:xfrm>
        </p:grpSpPr>
        <p:sp>
          <p:nvSpPr>
            <p:cNvPr id="57" name="Freeform 57" descr="/home/claude/finance_ppt/icons/arrowdown_teal.png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58" name="Group 58"/>
          <p:cNvGrpSpPr/>
          <p:nvPr/>
        </p:nvGrpSpPr>
        <p:grpSpPr>
          <a:xfrm>
            <a:off x="14211586" y="4925854"/>
            <a:ext cx="2972752" cy="1601152"/>
            <a:chOff x="0" y="0"/>
            <a:chExt cx="3963670" cy="213487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3963670" cy="2134870"/>
            </a:xfrm>
            <a:custGeom>
              <a:avLst/>
              <a:gdLst/>
              <a:ahLst/>
              <a:cxnLst/>
              <a:rect l="l" t="t" r="r" b="b"/>
              <a:pathLst>
                <a:path w="3963670" h="2134870">
                  <a:moveTo>
                    <a:pt x="0" y="148463"/>
                  </a:moveTo>
                  <a:cubicBezTo>
                    <a:pt x="0" y="66548"/>
                    <a:pt x="66548" y="0"/>
                    <a:pt x="148463" y="0"/>
                  </a:cubicBezTo>
                  <a:lnTo>
                    <a:pt x="3815207" y="0"/>
                  </a:lnTo>
                  <a:cubicBezTo>
                    <a:pt x="3897249" y="0"/>
                    <a:pt x="3963670" y="66548"/>
                    <a:pt x="3963670" y="148463"/>
                  </a:cubicBezTo>
                  <a:lnTo>
                    <a:pt x="3963670" y="1986407"/>
                  </a:lnTo>
                  <a:cubicBezTo>
                    <a:pt x="3963670" y="2068449"/>
                    <a:pt x="3897122" y="2134870"/>
                    <a:pt x="3815207" y="2134870"/>
                  </a:cubicBezTo>
                  <a:lnTo>
                    <a:pt x="148463" y="2134870"/>
                  </a:lnTo>
                  <a:cubicBezTo>
                    <a:pt x="66548" y="2134870"/>
                    <a:pt x="0" y="2068322"/>
                    <a:pt x="0" y="1986407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14305788" y="4992624"/>
            <a:ext cx="480060" cy="384048"/>
            <a:chOff x="0" y="0"/>
            <a:chExt cx="640080" cy="512064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40080" cy="512064"/>
            </a:xfrm>
            <a:custGeom>
              <a:avLst/>
              <a:gdLst/>
              <a:ahLst/>
              <a:cxnLst/>
              <a:rect l="l" t="t" r="r" b="b"/>
              <a:pathLst>
                <a:path w="640080" h="512064">
                  <a:moveTo>
                    <a:pt x="0" y="0"/>
                  </a:moveTo>
                  <a:lnTo>
                    <a:pt x="640080" y="0"/>
                  </a:lnTo>
                  <a:lnTo>
                    <a:pt x="6400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r="-52642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28575"/>
              <a:ext cx="64008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4333220" y="5143500"/>
            <a:ext cx="2729484" cy="1303020"/>
            <a:chOff x="0" y="0"/>
            <a:chExt cx="3639312" cy="173736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3639312" cy="1737360"/>
            </a:xfrm>
            <a:custGeom>
              <a:avLst/>
              <a:gdLst/>
              <a:ahLst/>
              <a:cxnLst/>
              <a:rect l="l" t="t" r="r" b="b"/>
              <a:pathLst>
                <a:path w="3639312" h="1737360">
                  <a:moveTo>
                    <a:pt x="0" y="0"/>
                  </a:moveTo>
                  <a:lnTo>
                    <a:pt x="3639312" y="0"/>
                  </a:lnTo>
                  <a:lnTo>
                    <a:pt x="3639312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250" r="-11250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28575"/>
              <a:ext cx="3639312" cy="17659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7"/>
                </a:lnSpc>
              </a:pPr>
              <a:r>
                <a:rPr lang="en-US" sz="157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Compare Predicted vs</a:t>
              </a:r>
            </a:p>
            <a:p>
              <a:pPr algn="ctr">
                <a:lnSpc>
                  <a:spcPts val="1927"/>
                </a:lnSpc>
              </a:pPr>
              <a:r>
                <a:rPr lang="en-US" sz="157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Budget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 rot="-10800000">
            <a:off x="16843248" y="5575554"/>
            <a:ext cx="301752" cy="301752"/>
            <a:chOff x="0" y="0"/>
            <a:chExt cx="402336" cy="402336"/>
          </a:xfrm>
        </p:grpSpPr>
        <p:sp>
          <p:nvSpPr>
            <p:cNvPr id="67" name="Freeform 67" descr="/home/claude/finance_ppt/icons/arrowright_teal.png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68" name="Group 68"/>
          <p:cNvGrpSpPr/>
          <p:nvPr/>
        </p:nvGrpSpPr>
        <p:grpSpPr>
          <a:xfrm>
            <a:off x="10933462" y="4925854"/>
            <a:ext cx="2972752" cy="1601152"/>
            <a:chOff x="0" y="0"/>
            <a:chExt cx="3963670" cy="213487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3963670" cy="2134870"/>
            </a:xfrm>
            <a:custGeom>
              <a:avLst/>
              <a:gdLst/>
              <a:ahLst/>
              <a:cxnLst/>
              <a:rect l="l" t="t" r="r" b="b"/>
              <a:pathLst>
                <a:path w="3963670" h="2134870">
                  <a:moveTo>
                    <a:pt x="0" y="148463"/>
                  </a:moveTo>
                  <a:cubicBezTo>
                    <a:pt x="0" y="66548"/>
                    <a:pt x="66548" y="0"/>
                    <a:pt x="148463" y="0"/>
                  </a:cubicBezTo>
                  <a:lnTo>
                    <a:pt x="3815207" y="0"/>
                  </a:lnTo>
                  <a:cubicBezTo>
                    <a:pt x="3897249" y="0"/>
                    <a:pt x="3963670" y="66548"/>
                    <a:pt x="3963670" y="148463"/>
                  </a:cubicBezTo>
                  <a:lnTo>
                    <a:pt x="3963670" y="1986407"/>
                  </a:lnTo>
                  <a:cubicBezTo>
                    <a:pt x="3963670" y="2068449"/>
                    <a:pt x="3897122" y="2134870"/>
                    <a:pt x="3815207" y="2134870"/>
                  </a:cubicBezTo>
                  <a:lnTo>
                    <a:pt x="148463" y="2134870"/>
                  </a:lnTo>
                  <a:cubicBezTo>
                    <a:pt x="66548" y="2134870"/>
                    <a:pt x="0" y="2068322"/>
                    <a:pt x="0" y="1986407"/>
                  </a:cubicBezTo>
                  <a:close/>
                </a:path>
              </a:pathLst>
            </a:custGeom>
            <a:solidFill>
              <a:srgbClr val="E8743B"/>
            </a:solidFill>
            <a:ln w="23812" cap="sq">
              <a:solidFill>
                <a:srgbClr val="E8743B"/>
              </a:solidFill>
              <a:prstDash val="solid"/>
              <a:miter/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11027664" y="4992624"/>
            <a:ext cx="480060" cy="384048"/>
            <a:chOff x="0" y="0"/>
            <a:chExt cx="640080" cy="512064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640080" cy="512064"/>
            </a:xfrm>
            <a:custGeom>
              <a:avLst/>
              <a:gdLst/>
              <a:ahLst/>
              <a:cxnLst/>
              <a:rect l="l" t="t" r="r" b="b"/>
              <a:pathLst>
                <a:path w="640080" h="512064">
                  <a:moveTo>
                    <a:pt x="0" y="0"/>
                  </a:moveTo>
                  <a:lnTo>
                    <a:pt x="640080" y="0"/>
                  </a:lnTo>
                  <a:lnTo>
                    <a:pt x="6400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r="-52642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28575"/>
              <a:ext cx="64008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1055096" y="5143500"/>
            <a:ext cx="2729484" cy="1303020"/>
            <a:chOff x="0" y="0"/>
            <a:chExt cx="3639312" cy="173736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3639312" cy="1737360"/>
            </a:xfrm>
            <a:custGeom>
              <a:avLst/>
              <a:gdLst/>
              <a:ahLst/>
              <a:cxnLst/>
              <a:rect l="l" t="t" r="r" b="b"/>
              <a:pathLst>
                <a:path w="3639312" h="1737360">
                  <a:moveTo>
                    <a:pt x="0" y="0"/>
                  </a:moveTo>
                  <a:lnTo>
                    <a:pt x="3639312" y="0"/>
                  </a:lnTo>
                  <a:lnTo>
                    <a:pt x="3639312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250" r="-11250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28575"/>
              <a:ext cx="3639312" cy="17659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7"/>
                </a:lnSpc>
              </a:pPr>
              <a:r>
                <a:rPr lang="en-US" sz="157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Detect Possible</a:t>
              </a:r>
            </a:p>
            <a:p>
              <a:pPr algn="ctr">
                <a:lnSpc>
                  <a:spcPts val="1927"/>
                </a:lnSpc>
              </a:pPr>
              <a:r>
                <a:rPr lang="en-US" sz="157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Overspending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 rot="-10800000">
            <a:off x="13565124" y="5575554"/>
            <a:ext cx="301752" cy="301752"/>
            <a:chOff x="0" y="0"/>
            <a:chExt cx="402336" cy="402336"/>
          </a:xfrm>
        </p:grpSpPr>
        <p:sp>
          <p:nvSpPr>
            <p:cNvPr id="77" name="Freeform 77" descr="/home/claude/finance_ppt/icons/arrowright_teal.png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78" name="Group 78"/>
          <p:cNvGrpSpPr/>
          <p:nvPr/>
        </p:nvGrpSpPr>
        <p:grpSpPr>
          <a:xfrm>
            <a:off x="7655338" y="4925854"/>
            <a:ext cx="2972752" cy="1601152"/>
            <a:chOff x="0" y="0"/>
            <a:chExt cx="3963670" cy="213487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3963670" cy="2134870"/>
            </a:xfrm>
            <a:custGeom>
              <a:avLst/>
              <a:gdLst/>
              <a:ahLst/>
              <a:cxnLst/>
              <a:rect l="l" t="t" r="r" b="b"/>
              <a:pathLst>
                <a:path w="3963670" h="2134870">
                  <a:moveTo>
                    <a:pt x="0" y="148463"/>
                  </a:moveTo>
                  <a:cubicBezTo>
                    <a:pt x="0" y="66548"/>
                    <a:pt x="66548" y="0"/>
                    <a:pt x="148463" y="0"/>
                  </a:cubicBezTo>
                  <a:lnTo>
                    <a:pt x="3815207" y="0"/>
                  </a:lnTo>
                  <a:cubicBezTo>
                    <a:pt x="3897249" y="0"/>
                    <a:pt x="3963670" y="66548"/>
                    <a:pt x="3963670" y="148463"/>
                  </a:cubicBezTo>
                  <a:lnTo>
                    <a:pt x="3963670" y="1986407"/>
                  </a:lnTo>
                  <a:cubicBezTo>
                    <a:pt x="3963670" y="2068449"/>
                    <a:pt x="3897122" y="2134870"/>
                    <a:pt x="3815207" y="2134870"/>
                  </a:cubicBezTo>
                  <a:lnTo>
                    <a:pt x="148463" y="2134870"/>
                  </a:lnTo>
                  <a:cubicBezTo>
                    <a:pt x="66548" y="2134870"/>
                    <a:pt x="0" y="2068322"/>
                    <a:pt x="0" y="1986407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7749540" y="4992624"/>
            <a:ext cx="480060" cy="384048"/>
            <a:chOff x="0" y="0"/>
            <a:chExt cx="640080" cy="512064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640080" cy="512064"/>
            </a:xfrm>
            <a:custGeom>
              <a:avLst/>
              <a:gdLst/>
              <a:ahLst/>
              <a:cxnLst/>
              <a:rect l="l" t="t" r="r" b="b"/>
              <a:pathLst>
                <a:path w="640080" h="512064">
                  <a:moveTo>
                    <a:pt x="0" y="0"/>
                  </a:moveTo>
                  <a:lnTo>
                    <a:pt x="640080" y="0"/>
                  </a:lnTo>
                  <a:lnTo>
                    <a:pt x="6400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r="-52642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28575"/>
              <a:ext cx="64008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7776972" y="5143500"/>
            <a:ext cx="2729484" cy="1303020"/>
            <a:chOff x="0" y="0"/>
            <a:chExt cx="3639312" cy="173736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3639312" cy="1737360"/>
            </a:xfrm>
            <a:custGeom>
              <a:avLst/>
              <a:gdLst/>
              <a:ahLst/>
              <a:cxnLst/>
              <a:rect l="l" t="t" r="r" b="b"/>
              <a:pathLst>
                <a:path w="3639312" h="1737360">
                  <a:moveTo>
                    <a:pt x="0" y="0"/>
                  </a:moveTo>
                  <a:lnTo>
                    <a:pt x="3639312" y="0"/>
                  </a:lnTo>
                  <a:lnTo>
                    <a:pt x="3639312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250" r="-11250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28575"/>
              <a:ext cx="3639312" cy="17659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7"/>
                </a:lnSpc>
              </a:pPr>
              <a:r>
                <a:rPr lang="en-US" sz="157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Calculate Impact</a:t>
              </a:r>
            </a:p>
            <a:p>
              <a:pPr algn="ctr">
                <a:lnSpc>
                  <a:spcPts val="1927"/>
                </a:lnSpc>
              </a:pPr>
              <a:r>
                <a:rPr lang="en-US" sz="157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 Savings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 rot="-10800000">
            <a:off x="10287000" y="5575554"/>
            <a:ext cx="301752" cy="301752"/>
            <a:chOff x="0" y="0"/>
            <a:chExt cx="402336" cy="402336"/>
          </a:xfrm>
        </p:grpSpPr>
        <p:sp>
          <p:nvSpPr>
            <p:cNvPr id="87" name="Freeform 87" descr="/home/claude/finance_ppt/icons/arrowright_teal.png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88" name="Group 88"/>
          <p:cNvGrpSpPr/>
          <p:nvPr/>
        </p:nvGrpSpPr>
        <p:grpSpPr>
          <a:xfrm>
            <a:off x="4377214" y="4925854"/>
            <a:ext cx="2972752" cy="1601152"/>
            <a:chOff x="0" y="0"/>
            <a:chExt cx="3963670" cy="213487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3963670" cy="2134870"/>
            </a:xfrm>
            <a:custGeom>
              <a:avLst/>
              <a:gdLst/>
              <a:ahLst/>
              <a:cxnLst/>
              <a:rect l="l" t="t" r="r" b="b"/>
              <a:pathLst>
                <a:path w="3963670" h="2134870">
                  <a:moveTo>
                    <a:pt x="0" y="148463"/>
                  </a:moveTo>
                  <a:cubicBezTo>
                    <a:pt x="0" y="66548"/>
                    <a:pt x="66548" y="0"/>
                    <a:pt x="148463" y="0"/>
                  </a:cubicBezTo>
                  <a:lnTo>
                    <a:pt x="3815207" y="0"/>
                  </a:lnTo>
                  <a:cubicBezTo>
                    <a:pt x="3897249" y="0"/>
                    <a:pt x="3963670" y="66548"/>
                    <a:pt x="3963670" y="148463"/>
                  </a:cubicBezTo>
                  <a:lnTo>
                    <a:pt x="3963670" y="1986407"/>
                  </a:lnTo>
                  <a:cubicBezTo>
                    <a:pt x="3963670" y="2068449"/>
                    <a:pt x="3897122" y="2134870"/>
                    <a:pt x="3815207" y="2134870"/>
                  </a:cubicBezTo>
                  <a:lnTo>
                    <a:pt x="148463" y="2134870"/>
                  </a:lnTo>
                  <a:cubicBezTo>
                    <a:pt x="66548" y="2134870"/>
                    <a:pt x="0" y="2068322"/>
                    <a:pt x="0" y="1986407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id="90" name="Group 90"/>
          <p:cNvGrpSpPr/>
          <p:nvPr/>
        </p:nvGrpSpPr>
        <p:grpSpPr>
          <a:xfrm>
            <a:off x="4471416" y="4992624"/>
            <a:ext cx="480060" cy="384048"/>
            <a:chOff x="0" y="0"/>
            <a:chExt cx="640080" cy="512064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640080" cy="512064"/>
            </a:xfrm>
            <a:custGeom>
              <a:avLst/>
              <a:gdLst/>
              <a:ahLst/>
              <a:cxnLst/>
              <a:rect l="l" t="t" r="r" b="b"/>
              <a:pathLst>
                <a:path w="640080" h="512064">
                  <a:moveTo>
                    <a:pt x="0" y="0"/>
                  </a:moveTo>
                  <a:lnTo>
                    <a:pt x="640080" y="0"/>
                  </a:lnTo>
                  <a:lnTo>
                    <a:pt x="6400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r="-52642"/>
              </a:stretch>
            </a:blipFill>
          </p:spPr>
        </p:sp>
        <p:sp>
          <p:nvSpPr>
            <p:cNvPr id="92" name="TextBox 92"/>
            <p:cNvSpPr txBox="1"/>
            <p:nvPr/>
          </p:nvSpPr>
          <p:spPr>
            <a:xfrm>
              <a:off x="0" y="-28575"/>
              <a:ext cx="64008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4498848" y="5143500"/>
            <a:ext cx="2729484" cy="1303020"/>
            <a:chOff x="0" y="0"/>
            <a:chExt cx="3639312" cy="173736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3639312" cy="1737360"/>
            </a:xfrm>
            <a:custGeom>
              <a:avLst/>
              <a:gdLst/>
              <a:ahLst/>
              <a:cxnLst/>
              <a:rect l="l" t="t" r="r" b="b"/>
              <a:pathLst>
                <a:path w="3639312" h="1737360">
                  <a:moveTo>
                    <a:pt x="0" y="0"/>
                  </a:moveTo>
                  <a:lnTo>
                    <a:pt x="3639312" y="0"/>
                  </a:lnTo>
                  <a:lnTo>
                    <a:pt x="3639312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250" r="-11250"/>
              </a:stretch>
            </a:blipFill>
          </p:spPr>
        </p:sp>
        <p:sp>
          <p:nvSpPr>
            <p:cNvPr id="95" name="TextBox 95"/>
            <p:cNvSpPr txBox="1"/>
            <p:nvPr/>
          </p:nvSpPr>
          <p:spPr>
            <a:xfrm>
              <a:off x="0" y="-28575"/>
              <a:ext cx="3639312" cy="17659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7"/>
                </a:lnSpc>
              </a:pPr>
              <a:r>
                <a:rPr lang="en-US" sz="157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Generate Personalized</a:t>
              </a:r>
            </a:p>
            <a:p>
              <a:pPr algn="ctr">
                <a:lnSpc>
                  <a:spcPts val="1927"/>
                </a:lnSpc>
              </a:pPr>
              <a:r>
                <a:rPr lang="en-US" sz="157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Recommendation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 rot="-10800000">
            <a:off x="7008876" y="5575554"/>
            <a:ext cx="301752" cy="301752"/>
            <a:chOff x="0" y="0"/>
            <a:chExt cx="402336" cy="402336"/>
          </a:xfrm>
        </p:grpSpPr>
        <p:sp>
          <p:nvSpPr>
            <p:cNvPr id="97" name="Freeform 97" descr="/home/claude/finance_ppt/icons/arrowright_teal.png"/>
            <p:cNvSpPr/>
            <p:nvPr/>
          </p:nvSpPr>
          <p:spPr>
            <a:xfrm>
              <a:off x="0" y="0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98" name="Group 98"/>
          <p:cNvGrpSpPr/>
          <p:nvPr/>
        </p:nvGrpSpPr>
        <p:grpSpPr>
          <a:xfrm>
            <a:off x="1099090" y="4925854"/>
            <a:ext cx="2972752" cy="1601152"/>
            <a:chOff x="0" y="0"/>
            <a:chExt cx="3963670" cy="213487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3963670" cy="2134870"/>
            </a:xfrm>
            <a:custGeom>
              <a:avLst/>
              <a:gdLst/>
              <a:ahLst/>
              <a:cxnLst/>
              <a:rect l="l" t="t" r="r" b="b"/>
              <a:pathLst>
                <a:path w="3963670" h="2134870">
                  <a:moveTo>
                    <a:pt x="0" y="148463"/>
                  </a:moveTo>
                  <a:cubicBezTo>
                    <a:pt x="0" y="66548"/>
                    <a:pt x="66548" y="0"/>
                    <a:pt x="148463" y="0"/>
                  </a:cubicBezTo>
                  <a:lnTo>
                    <a:pt x="3815207" y="0"/>
                  </a:lnTo>
                  <a:cubicBezTo>
                    <a:pt x="3897249" y="0"/>
                    <a:pt x="3963670" y="66548"/>
                    <a:pt x="3963670" y="148463"/>
                  </a:cubicBezTo>
                  <a:lnTo>
                    <a:pt x="3963670" y="1986407"/>
                  </a:lnTo>
                  <a:cubicBezTo>
                    <a:pt x="3963670" y="2068449"/>
                    <a:pt x="3897122" y="2134870"/>
                    <a:pt x="3815207" y="2134870"/>
                  </a:cubicBezTo>
                  <a:lnTo>
                    <a:pt x="148463" y="2134870"/>
                  </a:lnTo>
                  <a:cubicBezTo>
                    <a:pt x="66548" y="2134870"/>
                    <a:pt x="0" y="2068322"/>
                    <a:pt x="0" y="1986407"/>
                  </a:cubicBez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id="100" name="Group 100"/>
          <p:cNvGrpSpPr/>
          <p:nvPr/>
        </p:nvGrpSpPr>
        <p:grpSpPr>
          <a:xfrm>
            <a:off x="1193292" y="4992624"/>
            <a:ext cx="480060" cy="384048"/>
            <a:chOff x="0" y="0"/>
            <a:chExt cx="640080" cy="512064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640080" cy="512064"/>
            </a:xfrm>
            <a:custGeom>
              <a:avLst/>
              <a:gdLst/>
              <a:ahLst/>
              <a:cxnLst/>
              <a:rect l="l" t="t" r="r" b="b"/>
              <a:pathLst>
                <a:path w="640080" h="512064">
                  <a:moveTo>
                    <a:pt x="0" y="0"/>
                  </a:moveTo>
                  <a:lnTo>
                    <a:pt x="640080" y="0"/>
                  </a:lnTo>
                  <a:lnTo>
                    <a:pt x="6400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r="-52642"/>
              </a:stretch>
            </a:blipFill>
          </p:spPr>
        </p:sp>
        <p:sp>
          <p:nvSpPr>
            <p:cNvPr id="102" name="TextBox 102"/>
            <p:cNvSpPr txBox="1"/>
            <p:nvPr/>
          </p:nvSpPr>
          <p:spPr>
            <a:xfrm>
              <a:off x="0" y="-28575"/>
              <a:ext cx="64008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1220724" y="5143500"/>
            <a:ext cx="2729484" cy="1303020"/>
            <a:chOff x="0" y="0"/>
            <a:chExt cx="3639312" cy="1737360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3639312" cy="1737360"/>
            </a:xfrm>
            <a:custGeom>
              <a:avLst/>
              <a:gdLst/>
              <a:ahLst/>
              <a:cxnLst/>
              <a:rect l="l" t="t" r="r" b="b"/>
              <a:pathLst>
                <a:path w="3639312" h="1737360">
                  <a:moveTo>
                    <a:pt x="0" y="0"/>
                  </a:moveTo>
                  <a:lnTo>
                    <a:pt x="3639312" y="0"/>
                  </a:lnTo>
                  <a:lnTo>
                    <a:pt x="3639312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250" r="-11250"/>
              </a:stretch>
            </a:blipFill>
          </p:spPr>
        </p:sp>
        <p:sp>
          <p:nvSpPr>
            <p:cNvPr id="105" name="TextBox 105"/>
            <p:cNvSpPr txBox="1"/>
            <p:nvPr/>
          </p:nvSpPr>
          <p:spPr>
            <a:xfrm>
              <a:off x="0" y="-28575"/>
              <a:ext cx="3639312" cy="17659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7"/>
                </a:lnSpc>
              </a:pPr>
              <a:r>
                <a:rPr lang="en-US" sz="157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Display Alert on</a:t>
              </a:r>
            </a:p>
            <a:p>
              <a:pPr algn="ctr">
                <a:lnSpc>
                  <a:spcPts val="1927"/>
                </a:lnSpc>
              </a:pPr>
              <a:r>
                <a:rPr lang="en-US" sz="157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822960" y="6926580"/>
            <a:ext cx="16596360" cy="1165860"/>
            <a:chOff x="0" y="0"/>
            <a:chExt cx="22128480" cy="1554480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22128479" cy="1554480"/>
            </a:xfrm>
            <a:custGeom>
              <a:avLst/>
              <a:gdLst/>
              <a:ahLst/>
              <a:cxnLst/>
              <a:rect l="l" t="t" r="r" b="b"/>
              <a:pathLst>
                <a:path w="22128479" h="15544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963887" y="0"/>
                  </a:lnTo>
                  <a:cubicBezTo>
                    <a:pt x="22054820" y="0"/>
                    <a:pt x="22128479" y="73660"/>
                    <a:pt x="22128479" y="164592"/>
                  </a:cubicBezTo>
                  <a:lnTo>
                    <a:pt x="22128479" y="1389888"/>
                  </a:lnTo>
                  <a:cubicBezTo>
                    <a:pt x="22128479" y="1480820"/>
                    <a:pt x="22054820" y="1554480"/>
                    <a:pt x="21963887" y="1554480"/>
                  </a:cubicBezTo>
                  <a:lnTo>
                    <a:pt x="164592" y="1554480"/>
                  </a:lnTo>
                  <a:cubicBezTo>
                    <a:pt x="73660" y="1554480"/>
                    <a:pt x="0" y="1480820"/>
                    <a:pt x="0" y="1389888"/>
                  </a:cubicBezTo>
                  <a:close/>
                </a:path>
              </a:pathLst>
            </a:custGeom>
            <a:solidFill>
              <a:srgbClr val="0B3D59"/>
            </a:solidFill>
          </p:spPr>
        </p:sp>
      </p:grpSp>
      <p:grpSp>
        <p:nvGrpSpPr>
          <p:cNvPr id="108" name="Group 108"/>
          <p:cNvGrpSpPr/>
          <p:nvPr/>
        </p:nvGrpSpPr>
        <p:grpSpPr>
          <a:xfrm>
            <a:off x="1165860" y="7104888"/>
            <a:ext cx="822960" cy="822960"/>
            <a:chOff x="0" y="0"/>
            <a:chExt cx="1097280" cy="1097280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110" name="Group 110"/>
          <p:cNvGrpSpPr/>
          <p:nvPr/>
        </p:nvGrpSpPr>
        <p:grpSpPr>
          <a:xfrm>
            <a:off x="1371600" y="7310628"/>
            <a:ext cx="411480" cy="411480"/>
            <a:chOff x="0" y="0"/>
            <a:chExt cx="548640" cy="548640"/>
          </a:xfrm>
        </p:grpSpPr>
        <p:sp>
          <p:nvSpPr>
            <p:cNvPr id="111" name="Freeform 111" descr="/home/claude/finance_ppt/icons/edit_white.png"/>
            <p:cNvSpPr/>
            <p:nvPr/>
          </p:nvSpPr>
          <p:spPr>
            <a:xfrm>
              <a:off x="0" y="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12" name="Group 112"/>
          <p:cNvGrpSpPr/>
          <p:nvPr/>
        </p:nvGrpSpPr>
        <p:grpSpPr>
          <a:xfrm>
            <a:off x="2263140" y="6926580"/>
            <a:ext cx="14881860" cy="1165860"/>
            <a:chOff x="0" y="0"/>
            <a:chExt cx="19842480" cy="1554480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19842480" cy="1554480"/>
            </a:xfrm>
            <a:custGeom>
              <a:avLst/>
              <a:gdLst/>
              <a:ahLst/>
              <a:cxnLst/>
              <a:rect l="l" t="t" r="r" b="b"/>
              <a:pathLst>
                <a:path w="19842480" h="1554480">
                  <a:moveTo>
                    <a:pt x="0" y="0"/>
                  </a:moveTo>
                  <a:lnTo>
                    <a:pt x="19842480" y="0"/>
                  </a:lnTo>
                  <a:lnTo>
                    <a:pt x="19842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8720" b="-198720"/>
              </a:stretch>
            </a:blipFill>
          </p:spPr>
        </p:sp>
        <p:sp>
          <p:nvSpPr>
            <p:cNvPr id="114" name="TextBox 114"/>
            <p:cNvSpPr txBox="1"/>
            <p:nvPr/>
          </p:nvSpPr>
          <p:spPr>
            <a:xfrm>
              <a:off x="0" y="-38100"/>
              <a:ext cx="19842480" cy="1592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Continuous Update:  </a:t>
              </a: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Whenever the user adds, edits or deletes a transaction, the system updates the analysis automatically.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13578840" y="8435340"/>
            <a:ext cx="411480" cy="301752"/>
            <a:chOff x="0" y="0"/>
            <a:chExt cx="548640" cy="402336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548640" cy="402336"/>
            </a:xfrm>
            <a:custGeom>
              <a:avLst/>
              <a:gdLst/>
              <a:ahLst/>
              <a:cxnLst/>
              <a:rect l="l" t="t" r="r" b="b"/>
              <a:pathLst>
                <a:path w="548640" h="402336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493776" y="0"/>
                  </a:lnTo>
                  <a:cubicBezTo>
                    <a:pt x="524129" y="0"/>
                    <a:pt x="548640" y="24511"/>
                    <a:pt x="548640" y="54864"/>
                  </a:cubicBezTo>
                  <a:lnTo>
                    <a:pt x="548640" y="347472"/>
                  </a:lnTo>
                  <a:cubicBezTo>
                    <a:pt x="548640" y="377825"/>
                    <a:pt x="524129" y="402336"/>
                    <a:pt x="493776" y="402336"/>
                  </a:cubicBezTo>
                  <a:lnTo>
                    <a:pt x="54864" y="402336"/>
                  </a:lnTo>
                  <a:cubicBezTo>
                    <a:pt x="24511" y="402336"/>
                    <a:pt x="0" y="377825"/>
                    <a:pt x="0" y="347472"/>
                  </a:cubicBezTo>
                  <a:close/>
                </a:path>
              </a:pathLst>
            </a:custGeom>
            <a:solidFill>
              <a:srgbClr val="E8743B"/>
            </a:solidFill>
          </p:spPr>
        </p:sp>
      </p:grpSp>
      <p:grpSp>
        <p:nvGrpSpPr>
          <p:cNvPr id="117" name="Group 117"/>
          <p:cNvGrpSpPr/>
          <p:nvPr/>
        </p:nvGrpSpPr>
        <p:grpSpPr>
          <a:xfrm>
            <a:off x="14127480" y="8366760"/>
            <a:ext cx="3291840" cy="411480"/>
            <a:chOff x="0" y="0"/>
            <a:chExt cx="4389120" cy="548640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4389120" cy="548640"/>
            </a:xfrm>
            <a:custGeom>
              <a:avLst/>
              <a:gdLst/>
              <a:ahLst/>
              <a:cxnLst/>
              <a:rect l="l" t="t" r="r" b="b"/>
              <a:pathLst>
                <a:path w="4389120" h="548640">
                  <a:moveTo>
                    <a:pt x="0" y="0"/>
                  </a:moveTo>
                  <a:lnTo>
                    <a:pt x="4389120" y="0"/>
                  </a:lnTo>
                  <a:lnTo>
                    <a:pt x="43891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119" name="TextBox 119"/>
            <p:cNvSpPr txBox="1"/>
            <p:nvPr/>
          </p:nvSpPr>
          <p:spPr>
            <a:xfrm>
              <a:off x="0" y="-38100"/>
              <a:ext cx="438912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84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Risk-detection step</a:t>
              </a: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17323308" y="9669780"/>
            <a:ext cx="548640" cy="411480"/>
            <a:chOff x="0" y="0"/>
            <a:chExt cx="731520" cy="548640"/>
          </a:xfrm>
        </p:grpSpPr>
        <p:sp>
          <p:nvSpPr>
            <p:cNvPr id="121" name="Freeform 121"/>
            <p:cNvSpPr/>
            <p:nvPr/>
          </p:nvSpPr>
          <p:spPr>
            <a:xfrm>
              <a:off x="0" y="0"/>
              <a:ext cx="731520" cy="548640"/>
            </a:xfrm>
            <a:custGeom>
              <a:avLst/>
              <a:gdLst/>
              <a:ahLst/>
              <a:cxnLst/>
              <a:rect l="l" t="t" r="r" b="b"/>
              <a:pathLst>
                <a:path w="731520" h="54864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122" name="TextBox 122"/>
            <p:cNvSpPr txBox="1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84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685800" y="9669780"/>
            <a:ext cx="8229600" cy="411480"/>
            <a:chOff x="0" y="0"/>
            <a:chExt cx="10972800" cy="548640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25" name="TextBox 125"/>
            <p:cNvSpPr txBox="1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84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PERSONAL FINANCE EXPENSE ANALYZER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76072"/>
            <a:ext cx="13716000" cy="480060"/>
            <a:chOff x="0" y="0"/>
            <a:chExt cx="182880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640080"/>
            </a:xfrm>
            <a:custGeom>
              <a:avLst/>
              <a:gdLst/>
              <a:ahLst/>
              <a:cxnLst/>
              <a:rect l="l" t="t" r="r" b="b"/>
              <a:pathLst>
                <a:path w="18288000" h="64008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15" b="-506715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28800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299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/ ML ENGINE — PART 1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987552"/>
            <a:ext cx="15773400" cy="960120"/>
            <a:chOff x="0" y="0"/>
            <a:chExt cx="21031200" cy="12801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11" b="-27011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0B3D5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Future Spending Prediction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2331720"/>
            <a:ext cx="7543800" cy="6720840"/>
            <a:chOff x="0" y="0"/>
            <a:chExt cx="10058400" cy="89611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58400" cy="8961120"/>
            </a:xfrm>
            <a:custGeom>
              <a:avLst/>
              <a:gdLst/>
              <a:ahLst/>
              <a:cxnLst/>
              <a:rect l="l" t="t" r="r" b="b"/>
              <a:pathLst>
                <a:path w="10058400" h="89611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9893808" y="0"/>
                  </a:lnTo>
                  <a:cubicBezTo>
                    <a:pt x="9984740" y="0"/>
                    <a:pt x="10058400" y="73660"/>
                    <a:pt x="10058400" y="164592"/>
                  </a:cubicBezTo>
                  <a:lnTo>
                    <a:pt x="10058400" y="8796528"/>
                  </a:lnTo>
                  <a:cubicBezTo>
                    <a:pt x="10058400" y="8887460"/>
                    <a:pt x="9984740" y="8961120"/>
                    <a:pt x="9893808" y="8961120"/>
                  </a:cubicBezTo>
                  <a:lnTo>
                    <a:pt x="164592" y="8961120"/>
                  </a:lnTo>
                  <a:cubicBezTo>
                    <a:pt x="73660" y="8961120"/>
                    <a:pt x="0" y="8887460"/>
                    <a:pt x="0" y="8796528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234440" y="2715768"/>
            <a:ext cx="960120" cy="960120"/>
            <a:chOff x="0" y="0"/>
            <a:chExt cx="1280160" cy="12801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B3D59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464869" y="2946197"/>
            <a:ext cx="499262" cy="499262"/>
            <a:chOff x="0" y="0"/>
            <a:chExt cx="665683" cy="665683"/>
          </a:xfrm>
        </p:grpSpPr>
        <p:sp>
          <p:nvSpPr>
            <p:cNvPr id="13" name="Freeform 13" descr="/home/claude/finance_ppt/icons/chartline_white.png"/>
            <p:cNvSpPr/>
            <p:nvPr/>
          </p:nvSpPr>
          <p:spPr>
            <a:xfrm>
              <a:off x="0" y="0"/>
              <a:ext cx="665734" cy="665734"/>
            </a:xfrm>
            <a:custGeom>
              <a:avLst/>
              <a:gdLst/>
              <a:ahLst/>
              <a:cxnLst/>
              <a:rect l="l" t="t" r="r" b="b"/>
              <a:pathLst>
                <a:path w="665734" h="665734">
                  <a:moveTo>
                    <a:pt x="0" y="0"/>
                  </a:moveTo>
                  <a:lnTo>
                    <a:pt x="665734" y="0"/>
                  </a:lnTo>
                  <a:lnTo>
                    <a:pt x="665734" y="665734"/>
                  </a:lnTo>
                  <a:lnTo>
                    <a:pt x="0" y="665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7" b="7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2400300" y="2811780"/>
            <a:ext cx="5692140" cy="754380"/>
            <a:chOff x="0" y="0"/>
            <a:chExt cx="7589520" cy="1005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589520" cy="1005840"/>
            </a:xfrm>
            <a:custGeom>
              <a:avLst/>
              <a:gdLst/>
              <a:ahLst/>
              <a:cxnLst/>
              <a:rect l="l" t="t" r="r" b="b"/>
              <a:pathLst>
                <a:path w="7589520" h="1005840">
                  <a:moveTo>
                    <a:pt x="0" y="0"/>
                  </a:moveTo>
                  <a:lnTo>
                    <a:pt x="7589520" y="0"/>
                  </a:lnTo>
                  <a:lnTo>
                    <a:pt x="7589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023" b="-97023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7589520" cy="1062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Model: Linear Regression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34440" y="3909060"/>
            <a:ext cx="6720840" cy="960120"/>
            <a:chOff x="0" y="0"/>
            <a:chExt cx="8961120" cy="12801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961120" cy="1280160"/>
            </a:xfrm>
            <a:custGeom>
              <a:avLst/>
              <a:gdLst/>
              <a:ahLst/>
              <a:cxnLst/>
              <a:rect l="l" t="t" r="r" b="b"/>
              <a:pathLst>
                <a:path w="8961120" h="1280160">
                  <a:moveTo>
                    <a:pt x="0" y="0"/>
                  </a:moveTo>
                  <a:lnTo>
                    <a:pt x="8961120" y="0"/>
                  </a:lnTo>
                  <a:lnTo>
                    <a:pt x="89611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95" b="-86395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8961120" cy="13468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83"/>
                </a:lnSpc>
              </a:pPr>
              <a:r>
                <a:rPr lang="en-US" sz="18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Learns from the user's previous and current spending to project where a category will land by month-end.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34440" y="5143500"/>
            <a:ext cx="4114800" cy="548640"/>
            <a:chOff x="0" y="0"/>
            <a:chExt cx="5486400" cy="7315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486400" cy="731520"/>
            </a:xfrm>
            <a:custGeom>
              <a:avLst/>
              <a:gdLst/>
              <a:ahLst/>
              <a:cxnLst/>
              <a:rect l="l" t="t" r="r" b="b"/>
              <a:pathLst>
                <a:path w="5486400" h="73152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137" b="-96137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54864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6B84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Dining Budget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49240" y="5143500"/>
            <a:ext cx="2606040" cy="548640"/>
            <a:chOff x="0" y="0"/>
            <a:chExt cx="3474720" cy="73152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474720" cy="731520"/>
            </a:xfrm>
            <a:custGeom>
              <a:avLst/>
              <a:gdLst/>
              <a:ahLst/>
              <a:cxnLst/>
              <a:rect l="l" t="t" r="r" b="b"/>
              <a:pathLst>
                <a:path w="3474720" h="731520">
                  <a:moveTo>
                    <a:pt x="0" y="0"/>
                  </a:moveTo>
                  <a:lnTo>
                    <a:pt x="3474720" y="0"/>
                  </a:lnTo>
                  <a:lnTo>
                    <a:pt x="3474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553" b="-42553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34747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30"/>
                </a:lnSpc>
              </a:pPr>
              <a:r>
                <a:rPr lang="en-US" sz="202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₹5,000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34440" y="5719572"/>
            <a:ext cx="4114800" cy="548640"/>
            <a:chOff x="0" y="0"/>
            <a:chExt cx="5486400" cy="7315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486400" cy="731520"/>
            </a:xfrm>
            <a:custGeom>
              <a:avLst/>
              <a:gdLst/>
              <a:ahLst/>
              <a:cxnLst/>
              <a:rect l="l" t="t" r="r" b="b"/>
              <a:pathLst>
                <a:path w="5486400" h="73152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137" b="-96137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4864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6B84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Spent in 10 Days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349240" y="5719572"/>
            <a:ext cx="2606040" cy="548640"/>
            <a:chOff x="0" y="0"/>
            <a:chExt cx="3474720" cy="7315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474720" cy="731520"/>
            </a:xfrm>
            <a:custGeom>
              <a:avLst/>
              <a:gdLst/>
              <a:ahLst/>
              <a:cxnLst/>
              <a:rect l="l" t="t" r="r" b="b"/>
              <a:pathLst>
                <a:path w="3474720" h="731520">
                  <a:moveTo>
                    <a:pt x="0" y="0"/>
                  </a:moveTo>
                  <a:lnTo>
                    <a:pt x="3474720" y="0"/>
                  </a:lnTo>
                  <a:lnTo>
                    <a:pt x="3474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553" b="-42553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34747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30"/>
                </a:lnSpc>
              </a:pPr>
              <a:r>
                <a:rPr lang="en-US" sz="202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₹4,000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34440" y="6446520"/>
            <a:ext cx="6720840" cy="850392"/>
            <a:chOff x="0" y="0"/>
            <a:chExt cx="8961120" cy="113385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961120" cy="1133856"/>
            </a:xfrm>
            <a:custGeom>
              <a:avLst/>
              <a:gdLst/>
              <a:ahLst/>
              <a:cxnLst/>
              <a:rect l="l" t="t" r="r" b="b"/>
              <a:pathLst>
                <a:path w="8961120" h="11338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8851392" y="0"/>
                  </a:lnTo>
                  <a:cubicBezTo>
                    <a:pt x="8911972" y="0"/>
                    <a:pt x="8961120" y="49149"/>
                    <a:pt x="8961120" y="109728"/>
                  </a:cubicBezTo>
                  <a:lnTo>
                    <a:pt x="8961120" y="1024128"/>
                  </a:lnTo>
                  <a:cubicBezTo>
                    <a:pt x="8961120" y="1084707"/>
                    <a:pt x="8911972" y="1133856"/>
                    <a:pt x="8851392" y="1133856"/>
                  </a:cubicBezTo>
                  <a:lnTo>
                    <a:pt x="109728" y="1133856"/>
                  </a:lnTo>
                  <a:cubicBezTo>
                    <a:pt x="49149" y="1133856"/>
                    <a:pt x="0" y="1084707"/>
                    <a:pt x="0" y="102412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508760" y="6446520"/>
            <a:ext cx="6172200" cy="850392"/>
            <a:chOff x="0" y="0"/>
            <a:chExt cx="8229600" cy="113385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229600" cy="1133856"/>
            </a:xfrm>
            <a:custGeom>
              <a:avLst/>
              <a:gdLst/>
              <a:ahLst/>
              <a:cxnLst/>
              <a:rect l="l" t="t" r="r" b="b"/>
              <a:pathLst>
                <a:path w="8229600" h="1133856">
                  <a:moveTo>
                    <a:pt x="0" y="0"/>
                  </a:moveTo>
                  <a:lnTo>
                    <a:pt x="8229600" y="0"/>
                  </a:lnTo>
                  <a:lnTo>
                    <a:pt x="82296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1423" b="-91423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8229600" cy="11719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7ECE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Predicted Month-End Spending   </a:t>
              </a: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≈ ₹8,000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34440" y="7475220"/>
            <a:ext cx="6720840" cy="1028700"/>
            <a:chOff x="0" y="0"/>
            <a:chExt cx="8961120" cy="13716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961120" cy="1371600"/>
            </a:xfrm>
            <a:custGeom>
              <a:avLst/>
              <a:gdLst/>
              <a:ahLst/>
              <a:cxnLst/>
              <a:rect l="l" t="t" r="r" b="b"/>
              <a:pathLst>
                <a:path w="8961120" h="137160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8851392" y="0"/>
                  </a:lnTo>
                  <a:cubicBezTo>
                    <a:pt x="8911972" y="0"/>
                    <a:pt x="8961120" y="49149"/>
                    <a:pt x="8961120" y="109728"/>
                  </a:cubicBezTo>
                  <a:lnTo>
                    <a:pt x="8961120" y="1261872"/>
                  </a:lnTo>
                  <a:cubicBezTo>
                    <a:pt x="8961120" y="1322451"/>
                    <a:pt x="8911972" y="1371600"/>
                    <a:pt x="8851392" y="1371600"/>
                  </a:cubicBezTo>
                  <a:lnTo>
                    <a:pt x="109728" y="1371600"/>
                  </a:lnTo>
                  <a:cubicBezTo>
                    <a:pt x="49149" y="1371600"/>
                    <a:pt x="0" y="1322451"/>
                    <a:pt x="0" y="1261872"/>
                  </a:cubicBezTo>
                  <a:close/>
                </a:path>
              </a:pathLst>
            </a:custGeom>
            <a:solidFill>
              <a:srgbClr val="E8743B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1508760" y="7475220"/>
            <a:ext cx="6172200" cy="1028700"/>
            <a:chOff x="0" y="0"/>
            <a:chExt cx="8229600" cy="13716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229600" cy="1371600"/>
            </a:xfrm>
            <a:custGeom>
              <a:avLst/>
              <a:gdLst/>
              <a:ahLst/>
              <a:cxnLst/>
              <a:rect l="l" t="t" r="r" b="b"/>
              <a:pathLst>
                <a:path w="8229600" h="1371600">
                  <a:moveTo>
                    <a:pt x="0" y="0"/>
                  </a:moveTo>
                  <a:lnTo>
                    <a:pt x="8229600" y="0"/>
                  </a:lnTo>
                  <a:lnTo>
                    <a:pt x="82296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66675"/>
              <a:ext cx="8229600" cy="1438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FFE9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Expected Overspending</a:t>
              </a:r>
            </a:p>
            <a:p>
              <a:pPr algn="l">
                <a:lnSpc>
                  <a:spcPts val="3104"/>
                </a:lnSpc>
              </a:pPr>
              <a:r>
                <a:rPr lang="en-US" sz="22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₹8,000 − ₹5,000 = ₹3,000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915400" y="2359152"/>
            <a:ext cx="8366760" cy="480060"/>
            <a:chOff x="0" y="0"/>
            <a:chExt cx="11155680" cy="64008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1155680" cy="640080"/>
            </a:xfrm>
            <a:custGeom>
              <a:avLst/>
              <a:gdLst/>
              <a:ahLst/>
              <a:cxnLst/>
              <a:rect l="l" t="t" r="r" b="b"/>
              <a:pathLst>
                <a:path w="11155680" h="640080">
                  <a:moveTo>
                    <a:pt x="0" y="0"/>
                  </a:moveTo>
                  <a:lnTo>
                    <a:pt x="11155680" y="0"/>
                  </a:lnTo>
                  <a:lnTo>
                    <a:pt x="11155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9596" b="-289596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1115568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Spending Trajectory vs. Budget</a:t>
              </a:r>
            </a:p>
          </p:txBody>
        </p:sp>
      </p:grpSp>
      <p:pic>
        <p:nvPicPr>
          <p:cNvPr id="45" name="Picture 4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008" y="2098548"/>
            <a:ext cx="10204704" cy="7667244"/>
          </a:xfrm>
          <a:prstGeom prst="rect">
            <a:avLst/>
          </a:prstGeom>
        </p:spPr>
      </p:pic>
      <p:grpSp>
        <p:nvGrpSpPr>
          <p:cNvPr id="46" name="Group 46"/>
          <p:cNvGrpSpPr/>
          <p:nvPr/>
        </p:nvGrpSpPr>
        <p:grpSpPr>
          <a:xfrm>
            <a:off x="17323308" y="9669780"/>
            <a:ext cx="548640" cy="411480"/>
            <a:chOff x="0" y="0"/>
            <a:chExt cx="731520" cy="54864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731520" cy="548640"/>
            </a:xfrm>
            <a:custGeom>
              <a:avLst/>
              <a:gdLst/>
              <a:ahLst/>
              <a:cxnLst/>
              <a:rect l="l" t="t" r="r" b="b"/>
              <a:pathLst>
                <a:path w="731520" h="54864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84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85800" y="9669780"/>
            <a:ext cx="8229600" cy="411480"/>
            <a:chOff x="0" y="0"/>
            <a:chExt cx="10972800" cy="54864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84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PERSONAL FINANCE EXPENSE ANALYZER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76072"/>
            <a:ext cx="13716000" cy="480060"/>
            <a:chOff x="0" y="0"/>
            <a:chExt cx="182880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640080"/>
            </a:xfrm>
            <a:custGeom>
              <a:avLst/>
              <a:gdLst/>
              <a:ahLst/>
              <a:cxnLst/>
              <a:rect l="l" t="t" r="r" b="b"/>
              <a:pathLst>
                <a:path w="18288000" h="64008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15" b="-506715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28800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299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/ ML ENGINE — PART 2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987552"/>
            <a:ext cx="15773400" cy="960120"/>
            <a:chOff x="0" y="0"/>
            <a:chExt cx="21031200" cy="12801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11" b="-27011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0B3D5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Unusual Spending &amp; Smart Explanation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2331720"/>
            <a:ext cx="8092440" cy="6720840"/>
            <a:chOff x="0" y="0"/>
            <a:chExt cx="10789920" cy="89611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89920" cy="8961120"/>
            </a:xfrm>
            <a:custGeom>
              <a:avLst/>
              <a:gdLst/>
              <a:ahLst/>
              <a:cxnLst/>
              <a:rect l="l" t="t" r="r" b="b"/>
              <a:pathLst>
                <a:path w="10789920" h="89611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625328" y="0"/>
                  </a:lnTo>
                  <a:cubicBezTo>
                    <a:pt x="10716260" y="0"/>
                    <a:pt x="10789920" y="73660"/>
                    <a:pt x="10789920" y="164592"/>
                  </a:cubicBezTo>
                  <a:lnTo>
                    <a:pt x="10789920" y="8796528"/>
                  </a:lnTo>
                  <a:cubicBezTo>
                    <a:pt x="10789920" y="8887460"/>
                    <a:pt x="10716260" y="8961120"/>
                    <a:pt x="10625328" y="8961120"/>
                  </a:cubicBezTo>
                  <a:lnTo>
                    <a:pt x="164592" y="8961120"/>
                  </a:lnTo>
                  <a:cubicBezTo>
                    <a:pt x="73660" y="8961120"/>
                    <a:pt x="0" y="8887460"/>
                    <a:pt x="0" y="8796528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234440" y="2715768"/>
            <a:ext cx="960120" cy="960120"/>
            <a:chOff x="0" y="0"/>
            <a:chExt cx="1280160" cy="12801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474470" y="2955798"/>
            <a:ext cx="480060" cy="480060"/>
            <a:chOff x="0" y="0"/>
            <a:chExt cx="640080" cy="640080"/>
          </a:xfrm>
        </p:grpSpPr>
        <p:sp>
          <p:nvSpPr>
            <p:cNvPr id="13" name="Freeform 13" descr="/home/claude/finance_ppt/icons/search_white.png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2400300" y="2811780"/>
            <a:ext cx="6309360" cy="754380"/>
            <a:chOff x="0" y="0"/>
            <a:chExt cx="8412480" cy="1005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412480" cy="1005840"/>
            </a:xfrm>
            <a:custGeom>
              <a:avLst/>
              <a:gdLst/>
              <a:ahLst/>
              <a:cxnLst/>
              <a:rect l="l" t="t" r="r" b="b"/>
              <a:pathLst>
                <a:path w="8412480" h="1005840">
                  <a:moveTo>
                    <a:pt x="0" y="0"/>
                  </a:moveTo>
                  <a:lnTo>
                    <a:pt x="8412480" y="0"/>
                  </a:lnTo>
                  <a:lnTo>
                    <a:pt x="84124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965" b="-112965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8412480" cy="1062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Model: Isolation Forest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34440" y="3909060"/>
            <a:ext cx="7269480" cy="891540"/>
            <a:chOff x="0" y="0"/>
            <a:chExt cx="9692640" cy="11887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692640" cy="1188720"/>
            </a:xfrm>
            <a:custGeom>
              <a:avLst/>
              <a:gdLst/>
              <a:ahLst/>
              <a:cxnLst/>
              <a:rect l="l" t="t" r="r" b="b"/>
              <a:pathLst>
                <a:path w="9692640" h="1188720">
                  <a:moveTo>
                    <a:pt x="0" y="0"/>
                  </a:moveTo>
                  <a:lnTo>
                    <a:pt x="9692640" y="0"/>
                  </a:lnTo>
                  <a:lnTo>
                    <a:pt x="969264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878" b="-108878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9692640" cy="1255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83"/>
                </a:lnSpc>
              </a:pPr>
              <a:r>
                <a:rPr lang="en-US" sz="18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Checks whether a transaction or spending pattern is unusual compared with the user's normal behavior.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981069" y="6203061"/>
            <a:ext cx="192024" cy="192024"/>
            <a:chOff x="0" y="0"/>
            <a:chExt cx="256032" cy="25603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56032" cy="256032"/>
            </a:xfrm>
            <a:custGeom>
              <a:avLst/>
              <a:gdLst/>
              <a:ahLst/>
              <a:cxnLst/>
              <a:rect l="l" t="t" r="r" b="b"/>
              <a:pathLst>
                <a:path w="256032" h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4341114" y="6923151"/>
            <a:ext cx="192024" cy="192024"/>
            <a:chOff x="0" y="0"/>
            <a:chExt cx="256032" cy="25603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56032" cy="256032"/>
            </a:xfrm>
            <a:custGeom>
              <a:avLst/>
              <a:gdLst/>
              <a:ahLst/>
              <a:cxnLst/>
              <a:rect l="l" t="t" r="r" b="b"/>
              <a:pathLst>
                <a:path w="256032" h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4917186" y="5843016"/>
            <a:ext cx="192024" cy="192024"/>
            <a:chOff x="0" y="0"/>
            <a:chExt cx="256032" cy="25603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56032" cy="256032"/>
            </a:xfrm>
            <a:custGeom>
              <a:avLst/>
              <a:gdLst/>
              <a:ahLst/>
              <a:cxnLst/>
              <a:rect l="l" t="t" r="r" b="b"/>
              <a:pathLst>
                <a:path w="256032" h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5349240" y="6635115"/>
            <a:ext cx="192024" cy="192024"/>
            <a:chOff x="0" y="0"/>
            <a:chExt cx="256032" cy="25603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56032" cy="256032"/>
            </a:xfrm>
            <a:custGeom>
              <a:avLst/>
              <a:gdLst/>
              <a:ahLst/>
              <a:cxnLst/>
              <a:rect l="l" t="t" r="r" b="b"/>
              <a:pathLst>
                <a:path w="256032" h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4629150" y="6491097"/>
            <a:ext cx="192024" cy="192024"/>
            <a:chOff x="0" y="0"/>
            <a:chExt cx="256032" cy="25603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56032" cy="256032"/>
            </a:xfrm>
            <a:custGeom>
              <a:avLst/>
              <a:gdLst/>
              <a:ahLst/>
              <a:cxnLst/>
              <a:rect l="l" t="t" r="r" b="b"/>
              <a:pathLst>
                <a:path w="256032" h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5565267" y="6059043"/>
            <a:ext cx="192024" cy="192024"/>
            <a:chOff x="0" y="0"/>
            <a:chExt cx="256032" cy="25603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56032" cy="256032"/>
            </a:xfrm>
            <a:custGeom>
              <a:avLst/>
              <a:gdLst/>
              <a:ahLst/>
              <a:cxnLst/>
              <a:rect l="l" t="t" r="r" b="b"/>
              <a:pathLst>
                <a:path w="256032" h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4125087" y="6995160"/>
            <a:ext cx="192024" cy="192024"/>
            <a:chOff x="0" y="0"/>
            <a:chExt cx="256032" cy="25603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56032" cy="256032"/>
            </a:xfrm>
            <a:custGeom>
              <a:avLst/>
              <a:gdLst/>
              <a:ahLst/>
              <a:cxnLst/>
              <a:rect l="l" t="t" r="r" b="b"/>
              <a:pathLst>
                <a:path w="256032" h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5061204" y="7067169"/>
            <a:ext cx="192024" cy="192024"/>
            <a:chOff x="0" y="0"/>
            <a:chExt cx="256032" cy="25603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56032" cy="256032"/>
            </a:xfrm>
            <a:custGeom>
              <a:avLst/>
              <a:gdLst/>
              <a:ahLst/>
              <a:cxnLst/>
              <a:rect l="l" t="t" r="r" b="b"/>
              <a:pathLst>
                <a:path w="256032" h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3691414" y="5611654"/>
            <a:ext cx="2355533" cy="1806892"/>
            <a:chOff x="0" y="0"/>
            <a:chExt cx="3140710" cy="240919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140710" cy="2409190"/>
            </a:xfrm>
            <a:custGeom>
              <a:avLst/>
              <a:gdLst/>
              <a:ahLst/>
              <a:cxnLst/>
              <a:rect l="l" t="t" r="r" b="b"/>
              <a:pathLst>
                <a:path w="3140710" h="2409190">
                  <a:moveTo>
                    <a:pt x="0" y="1204595"/>
                  </a:moveTo>
                  <a:cubicBezTo>
                    <a:pt x="0" y="539369"/>
                    <a:pt x="703072" y="0"/>
                    <a:pt x="1570355" y="0"/>
                  </a:cubicBezTo>
                  <a:cubicBezTo>
                    <a:pt x="2437638" y="0"/>
                    <a:pt x="3140710" y="539369"/>
                    <a:pt x="3140710" y="1204595"/>
                  </a:cubicBezTo>
                  <a:cubicBezTo>
                    <a:pt x="3140710" y="1869821"/>
                    <a:pt x="2437638" y="2409190"/>
                    <a:pt x="1570355" y="2409190"/>
                  </a:cubicBezTo>
                  <a:cubicBezTo>
                    <a:pt x="703072" y="2409190"/>
                    <a:pt x="0" y="1869821"/>
                    <a:pt x="0" y="120459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419" r="-48419"/>
              </a:stretch>
            </a:blipFill>
            <a:ln w="23812" cap="sq">
              <a:solidFill>
                <a:srgbClr val="1C7293"/>
              </a:solidFill>
              <a:prstDash val="dash"/>
              <a:miter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3703320" y="7543800"/>
            <a:ext cx="2331720" cy="685800"/>
            <a:chOff x="0" y="0"/>
            <a:chExt cx="3108960" cy="9144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108960" cy="914400"/>
            </a:xfrm>
            <a:custGeom>
              <a:avLst/>
              <a:gdLst/>
              <a:ahLst/>
              <a:cxnLst/>
              <a:rect l="l" t="t" r="r" b="b"/>
              <a:pathLst>
                <a:path w="3108960" h="914400">
                  <a:moveTo>
                    <a:pt x="0" y="0"/>
                  </a:moveTo>
                  <a:lnTo>
                    <a:pt x="3108960" y="0"/>
                  </a:lnTo>
                  <a:lnTo>
                    <a:pt x="3108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249" b="-16249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310896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95"/>
                </a:lnSpc>
              </a:pPr>
              <a:r>
                <a:rPr lang="en-US" sz="1425">
                  <a:solidFill>
                    <a:srgbClr val="6B84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Normal Dining</a:t>
              </a:r>
            </a:p>
            <a:p>
              <a:pPr algn="ctr">
                <a:lnSpc>
                  <a:spcPts val="1795"/>
                </a:lnSpc>
              </a:pPr>
              <a:r>
                <a:rPr lang="en-US" sz="1425">
                  <a:solidFill>
                    <a:srgbClr val="6B84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≈ ₹500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980872" y="5334953"/>
            <a:ext cx="330327" cy="330327"/>
            <a:chOff x="0" y="0"/>
            <a:chExt cx="440436" cy="44043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40436" cy="440436"/>
            </a:xfrm>
            <a:custGeom>
              <a:avLst/>
              <a:gdLst/>
              <a:ahLst/>
              <a:cxnLst/>
              <a:rect l="l" t="t" r="r" b="b"/>
              <a:pathLst>
                <a:path w="440436" h="440436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cubicBezTo>
                    <a:pt x="341884" y="0"/>
                    <a:pt x="440436" y="98552"/>
                    <a:pt x="440436" y="220218"/>
                  </a:cubicBezTo>
                  <a:cubicBezTo>
                    <a:pt x="440436" y="341884"/>
                    <a:pt x="341884" y="440436"/>
                    <a:pt x="220218" y="440436"/>
                  </a:cubicBezTo>
                  <a:cubicBezTo>
                    <a:pt x="98552" y="440436"/>
                    <a:pt x="0" y="341884"/>
                    <a:pt x="0" y="220218"/>
                  </a:cubicBezTo>
                  <a:close/>
                </a:path>
              </a:pathLst>
            </a:custGeom>
            <a:solidFill>
              <a:srgbClr val="D64545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6240780" y="4636008"/>
            <a:ext cx="2331720" cy="685800"/>
            <a:chOff x="0" y="0"/>
            <a:chExt cx="3108960" cy="9144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108960" cy="914400"/>
            </a:xfrm>
            <a:custGeom>
              <a:avLst/>
              <a:gdLst/>
              <a:ahLst/>
              <a:cxnLst/>
              <a:rect l="l" t="t" r="r" b="b"/>
              <a:pathLst>
                <a:path w="3108960" h="914400">
                  <a:moveTo>
                    <a:pt x="0" y="0"/>
                  </a:moveTo>
                  <a:lnTo>
                    <a:pt x="3108960" y="0"/>
                  </a:lnTo>
                  <a:lnTo>
                    <a:pt x="3108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249" b="-16249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310896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95"/>
                </a:lnSpc>
              </a:pPr>
              <a:r>
                <a:rPr lang="en-US" sz="1425" b="1">
                  <a:solidFill>
                    <a:srgbClr val="D64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New Transaction</a:t>
              </a:r>
            </a:p>
            <a:p>
              <a:pPr algn="ctr">
                <a:lnSpc>
                  <a:spcPts val="1795"/>
                </a:lnSpc>
              </a:pPr>
              <a:r>
                <a:rPr lang="en-US" sz="1425" b="1">
                  <a:solidFill>
                    <a:srgbClr val="D64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₹4,000 → Unusual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326880" y="2331720"/>
            <a:ext cx="8092440" cy="6720840"/>
            <a:chOff x="0" y="0"/>
            <a:chExt cx="10789920" cy="896112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789920" cy="8961120"/>
            </a:xfrm>
            <a:custGeom>
              <a:avLst/>
              <a:gdLst/>
              <a:ahLst/>
              <a:cxnLst/>
              <a:rect l="l" t="t" r="r" b="b"/>
              <a:pathLst>
                <a:path w="10789920" h="89611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625328" y="0"/>
                  </a:lnTo>
                  <a:cubicBezTo>
                    <a:pt x="10716260" y="0"/>
                    <a:pt x="10789920" y="73660"/>
                    <a:pt x="10789920" y="164592"/>
                  </a:cubicBezTo>
                  <a:lnTo>
                    <a:pt x="10789920" y="8796528"/>
                  </a:lnTo>
                  <a:cubicBezTo>
                    <a:pt x="10789920" y="8887460"/>
                    <a:pt x="10716260" y="8961120"/>
                    <a:pt x="10625328" y="8961120"/>
                  </a:cubicBezTo>
                  <a:lnTo>
                    <a:pt x="164592" y="8961120"/>
                  </a:lnTo>
                  <a:cubicBezTo>
                    <a:pt x="73660" y="8961120"/>
                    <a:pt x="0" y="8887460"/>
                    <a:pt x="0" y="8796528"/>
                  </a:cubicBezTo>
                  <a:close/>
                </a:path>
              </a:pathLst>
            </a:custGeom>
            <a:solidFill>
              <a:srgbClr val="0B3D59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9738360" y="2715768"/>
            <a:ext cx="960120" cy="960120"/>
            <a:chOff x="0" y="0"/>
            <a:chExt cx="1280160" cy="128016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9978390" y="2955798"/>
            <a:ext cx="480060" cy="480060"/>
            <a:chOff x="0" y="0"/>
            <a:chExt cx="640080" cy="640080"/>
          </a:xfrm>
        </p:grpSpPr>
        <p:sp>
          <p:nvSpPr>
            <p:cNvPr id="51" name="Freeform 51" descr="/home/claude/finance_ppt/icons/comments_white.png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52" name="Group 52"/>
          <p:cNvGrpSpPr/>
          <p:nvPr/>
        </p:nvGrpSpPr>
        <p:grpSpPr>
          <a:xfrm>
            <a:off x="10904220" y="2811780"/>
            <a:ext cx="6309360" cy="754380"/>
            <a:chOff x="0" y="0"/>
            <a:chExt cx="8412480" cy="100584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412480" cy="1005840"/>
            </a:xfrm>
            <a:custGeom>
              <a:avLst/>
              <a:gdLst/>
              <a:ahLst/>
              <a:cxnLst/>
              <a:rect l="l" t="t" r="r" b="b"/>
              <a:pathLst>
                <a:path w="8412480" h="1005840">
                  <a:moveTo>
                    <a:pt x="0" y="0"/>
                  </a:moveTo>
                  <a:lnTo>
                    <a:pt x="8412480" y="0"/>
                  </a:lnTo>
                  <a:lnTo>
                    <a:pt x="84124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965" b="-112965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57150"/>
              <a:ext cx="8412480" cy="1062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LLM Explanation Layer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738360" y="3840480"/>
            <a:ext cx="7269480" cy="822960"/>
            <a:chOff x="0" y="0"/>
            <a:chExt cx="9692640" cy="109728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9692640" cy="1097280"/>
            </a:xfrm>
            <a:custGeom>
              <a:avLst/>
              <a:gdLst/>
              <a:ahLst/>
              <a:cxnLst/>
              <a:rect l="l" t="t" r="r" b="b"/>
              <a:pathLst>
                <a:path w="9692640" h="1097280">
                  <a:moveTo>
                    <a:pt x="0" y="0"/>
                  </a:moveTo>
                  <a:lnTo>
                    <a:pt x="9692640" y="0"/>
                  </a:lnTo>
                  <a:lnTo>
                    <a:pt x="9692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2117" b="-122117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66675"/>
              <a:ext cx="9692640" cy="11639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83"/>
                </a:lnSpc>
              </a:pPr>
              <a:r>
                <a:rPr lang="en-US" sz="1800">
                  <a:solidFill>
                    <a:srgbClr val="C7D8E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Converts calculated results into a simple, friendly message the user actually understands.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9738360" y="4869180"/>
            <a:ext cx="7269480" cy="3223260"/>
            <a:chOff x="0" y="0"/>
            <a:chExt cx="9692640" cy="429768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9692640" cy="4297680"/>
            </a:xfrm>
            <a:custGeom>
              <a:avLst/>
              <a:gdLst/>
              <a:ahLst/>
              <a:cxnLst/>
              <a:rect l="l" t="t" r="r" b="b"/>
              <a:pathLst>
                <a:path w="9692640" h="42976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9473184" y="0"/>
                  </a:lnTo>
                  <a:cubicBezTo>
                    <a:pt x="9594342" y="0"/>
                    <a:pt x="9692640" y="98298"/>
                    <a:pt x="9692640" y="219456"/>
                  </a:cubicBezTo>
                  <a:lnTo>
                    <a:pt x="9692640" y="4078224"/>
                  </a:lnTo>
                  <a:cubicBezTo>
                    <a:pt x="9692640" y="4199382"/>
                    <a:pt x="9594342" y="4297680"/>
                    <a:pt x="9473184" y="4297680"/>
                  </a:cubicBezTo>
                  <a:lnTo>
                    <a:pt x="219456" y="4297680"/>
                  </a:lnTo>
                  <a:cubicBezTo>
                    <a:pt x="98298" y="4297680"/>
                    <a:pt x="0" y="4199382"/>
                    <a:pt x="0" y="40782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10081260" y="5184648"/>
            <a:ext cx="754380" cy="754380"/>
            <a:chOff x="0" y="0"/>
            <a:chExt cx="1005840" cy="100584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E8743B"/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10250996" y="5354384"/>
            <a:ext cx="414909" cy="414909"/>
            <a:chOff x="0" y="0"/>
            <a:chExt cx="553212" cy="553212"/>
          </a:xfrm>
        </p:grpSpPr>
        <p:sp>
          <p:nvSpPr>
            <p:cNvPr id="63" name="Freeform 63" descr="/home/claude/finance_ppt/icons/warning_white.png"/>
            <p:cNvSpPr/>
            <p:nvPr/>
          </p:nvSpPr>
          <p:spPr>
            <a:xfrm>
              <a:off x="0" y="0"/>
              <a:ext cx="553212" cy="553212"/>
            </a:xfrm>
            <a:custGeom>
              <a:avLst/>
              <a:gdLst/>
              <a:ahLst/>
              <a:cxnLst/>
              <a:rect l="l" t="t" r="r" b="b"/>
              <a:pathLst>
                <a:path w="553212" h="553212">
                  <a:moveTo>
                    <a:pt x="0" y="0"/>
                  </a:moveTo>
                  <a:lnTo>
                    <a:pt x="553212" y="0"/>
                  </a:lnTo>
                  <a:lnTo>
                    <a:pt x="553212" y="553212"/>
                  </a:lnTo>
                  <a:lnTo>
                    <a:pt x="0" y="553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64" name="Group 64"/>
          <p:cNvGrpSpPr/>
          <p:nvPr/>
        </p:nvGrpSpPr>
        <p:grpSpPr>
          <a:xfrm>
            <a:off x="11041380" y="5184648"/>
            <a:ext cx="5692140" cy="2674620"/>
            <a:chOff x="0" y="0"/>
            <a:chExt cx="7589520" cy="356616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7589520" cy="3566160"/>
            </a:xfrm>
            <a:custGeom>
              <a:avLst/>
              <a:gdLst/>
              <a:ahLst/>
              <a:cxnLst/>
              <a:rect l="l" t="t" r="r" b="b"/>
              <a:pathLst>
                <a:path w="7589520" h="3566160">
                  <a:moveTo>
                    <a:pt x="0" y="0"/>
                  </a:moveTo>
                  <a:lnTo>
                    <a:pt x="7589520" y="0"/>
                  </a:lnTo>
                  <a:lnTo>
                    <a:pt x="7589520" y="3566160"/>
                  </a:lnTo>
                  <a:lnTo>
                    <a:pt x="0" y="3566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287" r="-10287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95250"/>
              <a:ext cx="7589520" cy="3661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24"/>
                </a:lnSpc>
              </a:pPr>
              <a:r>
                <a:rPr lang="en-US" sz="2100" b="1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Your Dining spending is high.</a:t>
              </a:r>
            </a:p>
            <a:p>
              <a:pPr algn="l">
                <a:lnSpc>
                  <a:spcPts val="2700"/>
                </a:lnSpc>
              </a:pPr>
              <a:endParaRPr lang="en-US" sz="2100" b="1">
                <a:solidFill>
                  <a:srgbClr val="21295C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You've used 80% of your budget early in the month. Reducing Dining spending can help protect your savings.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7323308" y="9669780"/>
            <a:ext cx="548640" cy="411480"/>
            <a:chOff x="0" y="0"/>
            <a:chExt cx="731520" cy="54864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731520" cy="548640"/>
            </a:xfrm>
            <a:custGeom>
              <a:avLst/>
              <a:gdLst/>
              <a:ahLst/>
              <a:cxnLst/>
              <a:rect l="l" t="t" r="r" b="b"/>
              <a:pathLst>
                <a:path w="731520" h="54864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84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85800" y="9669780"/>
            <a:ext cx="8229600" cy="411480"/>
            <a:chOff x="0" y="0"/>
            <a:chExt cx="10972800" cy="54864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84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PERSONAL FINANCE EXPENSE ANALYZER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76072"/>
            <a:ext cx="13716000" cy="480060"/>
            <a:chOff x="0" y="0"/>
            <a:chExt cx="182880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640080"/>
            </a:xfrm>
            <a:custGeom>
              <a:avLst/>
              <a:gdLst/>
              <a:ahLst/>
              <a:cxnLst/>
              <a:rect l="l" t="t" r="r" b="b"/>
              <a:pathLst>
                <a:path w="18288000" h="64008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15" b="-506715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28800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299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WORKED EXAMPLE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987552"/>
            <a:ext cx="15773400" cy="960120"/>
            <a:chOff x="0" y="0"/>
            <a:chExt cx="21031200" cy="12801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11" b="-27011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0B3D5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Smart Financial Warning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2263140"/>
            <a:ext cx="5280660" cy="5966460"/>
            <a:chOff x="0" y="0"/>
            <a:chExt cx="7040880" cy="79552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040880" cy="7955280"/>
            </a:xfrm>
            <a:custGeom>
              <a:avLst/>
              <a:gdLst/>
              <a:ahLst/>
              <a:cxnLst/>
              <a:rect l="l" t="t" r="r" b="b"/>
              <a:pathLst>
                <a:path w="7040880" h="79552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876288" y="0"/>
                  </a:lnTo>
                  <a:cubicBezTo>
                    <a:pt x="6967220" y="0"/>
                    <a:pt x="7040880" y="73660"/>
                    <a:pt x="7040880" y="164592"/>
                  </a:cubicBezTo>
                  <a:lnTo>
                    <a:pt x="7040880" y="7790688"/>
                  </a:lnTo>
                  <a:cubicBezTo>
                    <a:pt x="7040880" y="7881620"/>
                    <a:pt x="6967220" y="7955280"/>
                    <a:pt x="6876288" y="7955280"/>
                  </a:cubicBezTo>
                  <a:lnTo>
                    <a:pt x="164592" y="7955280"/>
                  </a:lnTo>
                  <a:cubicBezTo>
                    <a:pt x="73660" y="7955280"/>
                    <a:pt x="0" y="7881620"/>
                    <a:pt x="0" y="77906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165860" y="2537460"/>
            <a:ext cx="4663440" cy="480060"/>
            <a:chOff x="0" y="0"/>
            <a:chExt cx="621792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217920" cy="640080"/>
            </a:xfrm>
            <a:custGeom>
              <a:avLst/>
              <a:gdLst/>
              <a:ahLst/>
              <a:cxnLst/>
              <a:rect l="l" t="t" r="r" b="b"/>
              <a:pathLst>
                <a:path w="6217920" h="64008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9283" b="-139283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621792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Situation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65860" y="3223260"/>
            <a:ext cx="3017520" cy="548640"/>
            <a:chOff x="0" y="0"/>
            <a:chExt cx="4023360" cy="7315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023360" cy="731520"/>
            </a:xfrm>
            <a:custGeom>
              <a:avLst/>
              <a:gdLst/>
              <a:ahLst/>
              <a:cxnLst/>
              <a:rect l="l" t="t" r="r" b="b"/>
              <a:pathLst>
                <a:path w="4023360" h="73152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167" b="-57167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0233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B84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Dining Budget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183380" y="3223260"/>
            <a:ext cx="1714500" cy="548640"/>
            <a:chOff x="0" y="0"/>
            <a:chExt cx="2286000" cy="7315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86000" cy="731520"/>
            </a:xfrm>
            <a:custGeom>
              <a:avLst/>
              <a:gdLst/>
              <a:ahLst/>
              <a:cxnLst/>
              <a:rect l="l" t="t" r="r" b="b"/>
              <a:pathLst>
                <a:path w="2286000" h="731520">
                  <a:moveTo>
                    <a:pt x="0" y="0"/>
                  </a:moveTo>
                  <a:lnTo>
                    <a:pt x="2286000" y="0"/>
                  </a:lnTo>
                  <a:lnTo>
                    <a:pt x="228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90" b="-10890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2860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250"/>
                </a:lnSpc>
              </a:pPr>
              <a:r>
                <a:rPr lang="en-US" sz="187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₹5,000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65860" y="3826764"/>
            <a:ext cx="3017520" cy="548640"/>
            <a:chOff x="0" y="0"/>
            <a:chExt cx="4023360" cy="7315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023360" cy="731520"/>
            </a:xfrm>
            <a:custGeom>
              <a:avLst/>
              <a:gdLst/>
              <a:ahLst/>
              <a:cxnLst/>
              <a:rect l="l" t="t" r="r" b="b"/>
              <a:pathLst>
                <a:path w="4023360" h="73152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167" b="-57167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40233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B84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Normal Daily Target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183380" y="3826764"/>
            <a:ext cx="1714500" cy="548640"/>
            <a:chOff x="0" y="0"/>
            <a:chExt cx="2286000" cy="7315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286000" cy="731520"/>
            </a:xfrm>
            <a:custGeom>
              <a:avLst/>
              <a:gdLst/>
              <a:ahLst/>
              <a:cxnLst/>
              <a:rect l="l" t="t" r="r" b="b"/>
              <a:pathLst>
                <a:path w="2286000" h="731520">
                  <a:moveTo>
                    <a:pt x="0" y="0"/>
                  </a:moveTo>
                  <a:lnTo>
                    <a:pt x="2286000" y="0"/>
                  </a:lnTo>
                  <a:lnTo>
                    <a:pt x="228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90" b="-10890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22860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250"/>
                </a:lnSpc>
              </a:pPr>
              <a:r>
                <a:rPr lang="en-US" sz="187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₹167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65860" y="4430268"/>
            <a:ext cx="3017520" cy="548640"/>
            <a:chOff x="0" y="0"/>
            <a:chExt cx="4023360" cy="7315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023360" cy="731520"/>
            </a:xfrm>
            <a:custGeom>
              <a:avLst/>
              <a:gdLst/>
              <a:ahLst/>
              <a:cxnLst/>
              <a:rect l="l" t="t" r="r" b="b"/>
              <a:pathLst>
                <a:path w="4023360" h="73152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167" b="-57167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40233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B84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Spent in 10 Days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183380" y="4430268"/>
            <a:ext cx="1714500" cy="548640"/>
            <a:chOff x="0" y="0"/>
            <a:chExt cx="2286000" cy="73152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286000" cy="731520"/>
            </a:xfrm>
            <a:custGeom>
              <a:avLst/>
              <a:gdLst/>
              <a:ahLst/>
              <a:cxnLst/>
              <a:rect l="l" t="t" r="r" b="b"/>
              <a:pathLst>
                <a:path w="2286000" h="731520">
                  <a:moveTo>
                    <a:pt x="0" y="0"/>
                  </a:moveTo>
                  <a:lnTo>
                    <a:pt x="2286000" y="0"/>
                  </a:lnTo>
                  <a:lnTo>
                    <a:pt x="228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90" b="-10890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22860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250"/>
                </a:lnSpc>
              </a:pPr>
              <a:r>
                <a:rPr lang="en-US" sz="187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₹4,000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65860" y="5184648"/>
            <a:ext cx="2743200" cy="411480"/>
            <a:chOff x="0" y="0"/>
            <a:chExt cx="3657600" cy="5486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657600" cy="548640"/>
            </a:xfrm>
            <a:custGeom>
              <a:avLst/>
              <a:gdLst/>
              <a:ahLst/>
              <a:cxnLst/>
              <a:rect l="l" t="t" r="r" b="b"/>
              <a:pathLst>
                <a:path w="3657600" h="54864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900" b="-79900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36576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B84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Budget Used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183380" y="5184648"/>
            <a:ext cx="1714500" cy="411480"/>
            <a:chOff x="0" y="0"/>
            <a:chExt cx="2286000" cy="54864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286000" cy="548640"/>
            </a:xfrm>
            <a:custGeom>
              <a:avLst/>
              <a:gdLst/>
              <a:ahLst/>
              <a:cxnLst/>
              <a:rect l="l" t="t" r="r" b="b"/>
              <a:pathLst>
                <a:path w="2286000" h="548640">
                  <a:moveTo>
                    <a:pt x="0" y="0"/>
                  </a:moveTo>
                  <a:lnTo>
                    <a:pt x="2286000" y="0"/>
                  </a:lnTo>
                  <a:lnTo>
                    <a:pt x="2286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187" b="-31187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2286000" cy="5962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340"/>
                </a:lnSpc>
              </a:pPr>
              <a:r>
                <a:rPr lang="en-US" sz="1950" b="1">
                  <a:solidFill>
                    <a:srgbClr val="E874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80%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65860" y="5623560"/>
            <a:ext cx="4594860" cy="384048"/>
            <a:chOff x="0" y="0"/>
            <a:chExt cx="6126480" cy="51206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126480" cy="512064"/>
            </a:xfrm>
            <a:custGeom>
              <a:avLst/>
              <a:gdLst/>
              <a:ahLst/>
              <a:cxnLst/>
              <a:rect l="l" t="t" r="r" b="b"/>
              <a:pathLst>
                <a:path w="6126480" h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5870448" y="0"/>
                  </a:lnTo>
                  <a:cubicBezTo>
                    <a:pt x="6011799" y="0"/>
                    <a:pt x="6126480" y="114681"/>
                    <a:pt x="6126480" y="256032"/>
                  </a:cubicBezTo>
                  <a:cubicBezTo>
                    <a:pt x="6126480" y="397383"/>
                    <a:pt x="6011799" y="512064"/>
                    <a:pt x="5870448" y="512064"/>
                  </a:cubicBezTo>
                  <a:lnTo>
                    <a:pt x="256032" y="512064"/>
                  </a:ln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E3EAEE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1165860" y="5623560"/>
            <a:ext cx="3675888" cy="384048"/>
            <a:chOff x="0" y="0"/>
            <a:chExt cx="4901184" cy="51206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901184" cy="512064"/>
            </a:xfrm>
            <a:custGeom>
              <a:avLst/>
              <a:gdLst/>
              <a:ahLst/>
              <a:cxnLst/>
              <a:rect l="l" t="t" r="r" b="b"/>
              <a:pathLst>
                <a:path w="4901184" h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4645152" y="0"/>
                  </a:lnTo>
                  <a:cubicBezTo>
                    <a:pt x="4786503" y="0"/>
                    <a:pt x="4901184" y="114681"/>
                    <a:pt x="4901184" y="256032"/>
                  </a:cubicBezTo>
                  <a:cubicBezTo>
                    <a:pt x="4901184" y="397383"/>
                    <a:pt x="4786503" y="512064"/>
                    <a:pt x="4645152" y="512064"/>
                  </a:cubicBezTo>
                  <a:lnTo>
                    <a:pt x="256032" y="512064"/>
                  </a:ln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E8743B"/>
            </a:solidFill>
          </p:spPr>
        </p:sp>
      </p:grpSp>
      <p:sp>
        <p:nvSpPr>
          <p:cNvPr id="41" name="AutoShape 41"/>
          <p:cNvSpPr/>
          <p:nvPr/>
        </p:nvSpPr>
        <p:spPr>
          <a:xfrm rot="14220">
            <a:off x="1156316" y="6373178"/>
            <a:ext cx="4613948" cy="0"/>
          </a:xfrm>
          <a:prstGeom prst="line">
            <a:avLst/>
          </a:prstGeom>
          <a:ln w="9525" cap="rnd">
            <a:solidFill>
              <a:srgbClr val="E3EAE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2" name="Group 42"/>
          <p:cNvGrpSpPr/>
          <p:nvPr/>
        </p:nvGrpSpPr>
        <p:grpSpPr>
          <a:xfrm>
            <a:off x="1165860" y="6583680"/>
            <a:ext cx="4389120" cy="411480"/>
            <a:chOff x="0" y="0"/>
            <a:chExt cx="5852160" cy="54864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852160" cy="548640"/>
            </a:xfrm>
            <a:custGeom>
              <a:avLst/>
              <a:gdLst/>
              <a:ahLst/>
              <a:cxnLst/>
              <a:rect l="l" t="t" r="r" b="b"/>
              <a:pathLst>
                <a:path w="5852160" h="548640">
                  <a:moveTo>
                    <a:pt x="0" y="0"/>
                  </a:moveTo>
                  <a:lnTo>
                    <a:pt x="5852160" y="0"/>
                  </a:lnTo>
                  <a:lnTo>
                    <a:pt x="5852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840" b="-157840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585216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ML Prediction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165860" y="7022592"/>
            <a:ext cx="3429000" cy="754380"/>
            <a:chOff x="0" y="0"/>
            <a:chExt cx="4572000" cy="100584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4572000" cy="1005840"/>
            </a:xfrm>
            <a:custGeom>
              <a:avLst/>
              <a:gdLst/>
              <a:ahLst/>
              <a:cxnLst/>
              <a:rect l="l" t="t" r="r" b="b"/>
              <a:pathLst>
                <a:path w="4572000" h="1005840">
                  <a:moveTo>
                    <a:pt x="0" y="0"/>
                  </a:moveTo>
                  <a:lnTo>
                    <a:pt x="4572000" y="0"/>
                  </a:lnTo>
                  <a:lnTo>
                    <a:pt x="4572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568" b="-38568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4572000" cy="1043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9"/>
                </a:lnSpc>
              </a:pPr>
              <a:r>
                <a:rPr lang="en-US" sz="1575">
                  <a:solidFill>
                    <a:srgbClr val="6B84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Predicted Month-End Spending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165860" y="7612380"/>
            <a:ext cx="4389120" cy="548640"/>
            <a:chOff x="0" y="0"/>
            <a:chExt cx="5852160" cy="73152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852160" cy="731520"/>
            </a:xfrm>
            <a:custGeom>
              <a:avLst/>
              <a:gdLst/>
              <a:ahLst/>
              <a:cxnLst/>
              <a:rect l="l" t="t" r="r" b="b"/>
              <a:pathLst>
                <a:path w="5852160" h="73152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66675"/>
              <a:ext cx="5852160" cy="7981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0"/>
                </a:lnSpc>
              </a:pPr>
              <a:r>
                <a:rPr lang="en-US" sz="3300" b="1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₹8,000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515100" y="2263140"/>
            <a:ext cx="5280660" cy="5966460"/>
            <a:chOff x="0" y="0"/>
            <a:chExt cx="7040880" cy="795528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7040880" cy="7955280"/>
            </a:xfrm>
            <a:custGeom>
              <a:avLst/>
              <a:gdLst/>
              <a:ahLst/>
              <a:cxnLst/>
              <a:rect l="l" t="t" r="r" b="b"/>
              <a:pathLst>
                <a:path w="7040880" h="79552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876288" y="0"/>
                  </a:lnTo>
                  <a:cubicBezTo>
                    <a:pt x="6967220" y="0"/>
                    <a:pt x="7040880" y="73660"/>
                    <a:pt x="7040880" y="164592"/>
                  </a:cubicBezTo>
                  <a:lnTo>
                    <a:pt x="7040880" y="7790688"/>
                  </a:lnTo>
                  <a:cubicBezTo>
                    <a:pt x="7040880" y="7881620"/>
                    <a:pt x="6967220" y="7955280"/>
                    <a:pt x="6876288" y="7955280"/>
                  </a:cubicBezTo>
                  <a:lnTo>
                    <a:pt x="164592" y="7955280"/>
                  </a:lnTo>
                  <a:cubicBezTo>
                    <a:pt x="73660" y="7955280"/>
                    <a:pt x="0" y="7881620"/>
                    <a:pt x="0" y="7790688"/>
                  </a:cubicBezTo>
                  <a:close/>
                </a:path>
              </a:pathLst>
            </a:custGeom>
            <a:solidFill>
              <a:srgbClr val="0B3D59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6858000" y="2537460"/>
            <a:ext cx="4663440" cy="480060"/>
            <a:chOff x="0" y="0"/>
            <a:chExt cx="6217920" cy="64008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6217920" cy="640080"/>
            </a:xfrm>
            <a:custGeom>
              <a:avLst/>
              <a:gdLst/>
              <a:ahLst/>
              <a:cxnLst/>
              <a:rect l="l" t="t" r="r" b="b"/>
              <a:pathLst>
                <a:path w="6217920" h="64008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9283" b="-139283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47625"/>
              <a:ext cx="621792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Impact on Savings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858000" y="3223260"/>
            <a:ext cx="4594860" cy="411480"/>
            <a:chOff x="0" y="0"/>
            <a:chExt cx="6126480" cy="54864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126480" cy="548640"/>
            </a:xfrm>
            <a:custGeom>
              <a:avLst/>
              <a:gdLst/>
              <a:ahLst/>
              <a:cxnLst/>
              <a:rect l="l" t="t" r="r" b="b"/>
              <a:pathLst>
                <a:path w="6126480" h="548640">
                  <a:moveTo>
                    <a:pt x="0" y="0"/>
                  </a:moveTo>
                  <a:lnTo>
                    <a:pt x="6126480" y="0"/>
                  </a:lnTo>
                  <a:lnTo>
                    <a:pt x="6126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7582" b="-167582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28575"/>
              <a:ext cx="612648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9FB8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Expected Overspending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858000" y="3607308"/>
            <a:ext cx="4594860" cy="548640"/>
            <a:chOff x="0" y="0"/>
            <a:chExt cx="6126480" cy="73152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126480" cy="731520"/>
            </a:xfrm>
            <a:custGeom>
              <a:avLst/>
              <a:gdLst/>
              <a:ahLst/>
              <a:cxnLst/>
              <a:rect l="l" t="t" r="r" b="b"/>
              <a:pathLst>
                <a:path w="6126480" h="731520">
                  <a:moveTo>
                    <a:pt x="0" y="0"/>
                  </a:moveTo>
                  <a:lnTo>
                    <a:pt x="6126480" y="0"/>
                  </a:lnTo>
                  <a:lnTo>
                    <a:pt x="612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3187" b="-113187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612648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E874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₹8,000 − ₹5,000 = ₹3,000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848475" y="4585335"/>
            <a:ext cx="4613910" cy="1047750"/>
            <a:chOff x="0" y="0"/>
            <a:chExt cx="6151880" cy="13970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6151880" cy="1397000"/>
            </a:xfrm>
            <a:custGeom>
              <a:avLst/>
              <a:gdLst/>
              <a:ahLst/>
              <a:cxnLst/>
              <a:rect l="l" t="t" r="r" b="b"/>
              <a:pathLst>
                <a:path w="6151880" h="1397000">
                  <a:moveTo>
                    <a:pt x="0" y="130429"/>
                  </a:moveTo>
                  <a:cubicBezTo>
                    <a:pt x="0" y="58420"/>
                    <a:pt x="58420" y="0"/>
                    <a:pt x="130429" y="0"/>
                  </a:cubicBezTo>
                  <a:lnTo>
                    <a:pt x="6021451" y="0"/>
                  </a:lnTo>
                  <a:cubicBezTo>
                    <a:pt x="6093460" y="0"/>
                    <a:pt x="6151880" y="58420"/>
                    <a:pt x="6151880" y="130429"/>
                  </a:cubicBezTo>
                  <a:lnTo>
                    <a:pt x="6151880" y="1266571"/>
                  </a:lnTo>
                  <a:cubicBezTo>
                    <a:pt x="6151880" y="1338580"/>
                    <a:pt x="6093460" y="1397000"/>
                    <a:pt x="6021451" y="1397000"/>
                  </a:cubicBezTo>
                  <a:lnTo>
                    <a:pt x="130429" y="1397000"/>
                  </a:lnTo>
                  <a:cubicBezTo>
                    <a:pt x="58420" y="1397000"/>
                    <a:pt x="0" y="1338580"/>
                    <a:pt x="0" y="1266571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  <a:ln w="19050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7132320" y="4594860"/>
            <a:ext cx="4114800" cy="1028700"/>
            <a:chOff x="0" y="0"/>
            <a:chExt cx="5486400" cy="13716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5486400" cy="1371600"/>
            </a:xfrm>
            <a:custGeom>
              <a:avLst/>
              <a:gdLst/>
              <a:ahLst/>
              <a:cxnLst/>
              <a:rect l="l" t="t" r="r" b="b"/>
              <a:pathLst>
                <a:path w="5486400" h="1371600">
                  <a:moveTo>
                    <a:pt x="0" y="0"/>
                  </a:moveTo>
                  <a:lnTo>
                    <a:pt x="5486400" y="0"/>
                  </a:lnTo>
                  <a:lnTo>
                    <a:pt x="5486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5486400" cy="1409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9"/>
                </a:lnSpc>
              </a:pPr>
              <a:r>
                <a:rPr lang="en-US" sz="1575">
                  <a:solidFill>
                    <a:srgbClr val="CADC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Planned Savings</a:t>
              </a:r>
            </a:p>
            <a:p>
              <a:pPr algn="l">
                <a:lnSpc>
                  <a:spcPts val="3366"/>
                </a:lnSpc>
              </a:pPr>
              <a:r>
                <a:rPr lang="en-US" sz="25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₹15,000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881110" y="5733288"/>
            <a:ext cx="548640" cy="548640"/>
            <a:chOff x="0" y="0"/>
            <a:chExt cx="731520" cy="731520"/>
          </a:xfrm>
        </p:grpSpPr>
        <p:sp>
          <p:nvSpPr>
            <p:cNvPr id="68" name="Freeform 68" descr="/home/claude/finance_ppt/icons/arrowdown_mint.png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69" name="Group 69"/>
          <p:cNvGrpSpPr/>
          <p:nvPr/>
        </p:nvGrpSpPr>
        <p:grpSpPr>
          <a:xfrm>
            <a:off x="6858000" y="6377940"/>
            <a:ext cx="4594860" cy="1028700"/>
            <a:chOff x="0" y="0"/>
            <a:chExt cx="6126480" cy="13716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6126480" cy="1371600"/>
            </a:xfrm>
            <a:custGeom>
              <a:avLst/>
              <a:gdLst/>
              <a:ahLst/>
              <a:cxnLst/>
              <a:rect l="l" t="t" r="r" b="b"/>
              <a:pathLst>
                <a:path w="6126480" h="137160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5998464" y="0"/>
                  </a:lnTo>
                  <a:cubicBezTo>
                    <a:pt x="6069203" y="0"/>
                    <a:pt x="6126480" y="57277"/>
                    <a:pt x="6126480" y="128016"/>
                  </a:cubicBezTo>
                  <a:lnTo>
                    <a:pt x="6126480" y="1243584"/>
                  </a:lnTo>
                  <a:cubicBezTo>
                    <a:pt x="6126480" y="1314323"/>
                    <a:pt x="6069203" y="1371600"/>
                    <a:pt x="5998464" y="1371600"/>
                  </a:cubicBezTo>
                  <a:lnTo>
                    <a:pt x="128016" y="1371600"/>
                  </a:lnTo>
                  <a:cubicBezTo>
                    <a:pt x="57277" y="1371600"/>
                    <a:pt x="0" y="1314323"/>
                    <a:pt x="0" y="1243584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7132320" y="6377940"/>
            <a:ext cx="4114800" cy="1028700"/>
            <a:chOff x="0" y="0"/>
            <a:chExt cx="5486400" cy="13716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5486400" cy="1371600"/>
            </a:xfrm>
            <a:custGeom>
              <a:avLst/>
              <a:gdLst/>
              <a:ahLst/>
              <a:cxnLst/>
              <a:rect l="l" t="t" r="r" b="b"/>
              <a:pathLst>
                <a:path w="5486400" h="1371600">
                  <a:moveTo>
                    <a:pt x="0" y="0"/>
                  </a:moveTo>
                  <a:lnTo>
                    <a:pt x="5486400" y="0"/>
                  </a:lnTo>
                  <a:lnTo>
                    <a:pt x="5486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5486400" cy="1409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9"/>
                </a:lnSpc>
              </a:pPr>
              <a:r>
                <a:rPr lang="en-US" sz="1575">
                  <a:solidFill>
                    <a:srgbClr val="212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Remaining Savings</a:t>
              </a:r>
            </a:p>
            <a:p>
              <a:pPr algn="l">
                <a:lnSpc>
                  <a:spcPts val="3762"/>
                </a:lnSpc>
              </a:pPr>
              <a:r>
                <a:rPr lang="en-US" sz="2850" b="1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₹12,000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858000" y="7543800"/>
            <a:ext cx="4594860" cy="411480"/>
            <a:chOff x="0" y="0"/>
            <a:chExt cx="6126480" cy="54864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6126480" cy="548640"/>
            </a:xfrm>
            <a:custGeom>
              <a:avLst/>
              <a:gdLst/>
              <a:ahLst/>
              <a:cxnLst/>
              <a:rect l="l" t="t" r="r" b="b"/>
              <a:pathLst>
                <a:path w="6126480" h="548640">
                  <a:moveTo>
                    <a:pt x="0" y="0"/>
                  </a:moveTo>
                  <a:lnTo>
                    <a:pt x="6126480" y="0"/>
                  </a:lnTo>
                  <a:lnTo>
                    <a:pt x="6126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7582" b="-167582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612648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i="1">
                  <a:solidFill>
                    <a:srgbClr val="9FB8C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₹15,000 − ₹3,000 = ₹12,000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2192952" y="2248852"/>
            <a:ext cx="5240655" cy="5995035"/>
            <a:chOff x="0" y="0"/>
            <a:chExt cx="6987540" cy="799338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6987540" cy="7993380"/>
            </a:xfrm>
            <a:custGeom>
              <a:avLst/>
              <a:gdLst/>
              <a:ahLst/>
              <a:cxnLst/>
              <a:rect l="l" t="t" r="r" b="b"/>
              <a:pathLst>
                <a:path w="6987540" h="7993380">
                  <a:moveTo>
                    <a:pt x="0" y="165481"/>
                  </a:moveTo>
                  <a:cubicBezTo>
                    <a:pt x="0" y="74041"/>
                    <a:pt x="74041" y="0"/>
                    <a:pt x="165481" y="0"/>
                  </a:cubicBezTo>
                  <a:lnTo>
                    <a:pt x="6822059" y="0"/>
                  </a:lnTo>
                  <a:cubicBezTo>
                    <a:pt x="6913499" y="0"/>
                    <a:pt x="6987540" y="74041"/>
                    <a:pt x="6987540" y="165481"/>
                  </a:cubicBezTo>
                  <a:lnTo>
                    <a:pt x="6987540" y="7827899"/>
                  </a:lnTo>
                  <a:cubicBezTo>
                    <a:pt x="6987540" y="7919339"/>
                    <a:pt x="6913499" y="7993380"/>
                    <a:pt x="6822059" y="7993380"/>
                  </a:cubicBezTo>
                  <a:lnTo>
                    <a:pt x="165481" y="7993380"/>
                  </a:lnTo>
                  <a:cubicBezTo>
                    <a:pt x="74041" y="7993380"/>
                    <a:pt x="0" y="7919339"/>
                    <a:pt x="0" y="7827899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2C39A"/>
              </a:solidFill>
              <a:prstDash val="solid"/>
              <a:miter/>
            </a:ln>
          </p:spPr>
        </p:sp>
      </p:grpSp>
      <p:grpSp>
        <p:nvGrpSpPr>
          <p:cNvPr id="79" name="Group 79"/>
          <p:cNvGrpSpPr/>
          <p:nvPr/>
        </p:nvGrpSpPr>
        <p:grpSpPr>
          <a:xfrm>
            <a:off x="12550140" y="2606040"/>
            <a:ext cx="891540" cy="891540"/>
            <a:chOff x="0" y="0"/>
            <a:chExt cx="1188720" cy="118872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id="81" name="Group 81"/>
          <p:cNvGrpSpPr/>
          <p:nvPr/>
        </p:nvGrpSpPr>
        <p:grpSpPr>
          <a:xfrm>
            <a:off x="12773025" y="2828925"/>
            <a:ext cx="445770" cy="445770"/>
            <a:chOff x="0" y="0"/>
            <a:chExt cx="594360" cy="594360"/>
          </a:xfrm>
        </p:grpSpPr>
        <p:sp>
          <p:nvSpPr>
            <p:cNvPr id="82" name="Freeform 82" descr="/home/claude/finance_ppt/icons/shield_white.png"/>
            <p:cNvSpPr/>
            <p:nvPr/>
          </p:nvSpPr>
          <p:spPr>
            <a:xfrm>
              <a:off x="0" y="0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60" h="594360">
                  <a:moveTo>
                    <a:pt x="0" y="0"/>
                  </a:moveTo>
                  <a:lnTo>
                    <a:pt x="594360" y="0"/>
                  </a:lnTo>
                  <a:lnTo>
                    <a:pt x="594360" y="594360"/>
                  </a:lnTo>
                  <a:lnTo>
                    <a:pt x="0" y="594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83" name="Group 83"/>
          <p:cNvGrpSpPr/>
          <p:nvPr/>
        </p:nvGrpSpPr>
        <p:grpSpPr>
          <a:xfrm>
            <a:off x="13647420" y="2674620"/>
            <a:ext cx="3566160" cy="685800"/>
            <a:chOff x="0" y="0"/>
            <a:chExt cx="4754880" cy="91440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4754880" cy="914400"/>
            </a:xfrm>
            <a:custGeom>
              <a:avLst/>
              <a:gdLst/>
              <a:ahLst/>
              <a:cxnLst/>
              <a:rect l="l" t="t" r="r" b="b"/>
              <a:pathLst>
                <a:path w="4754880" h="914400">
                  <a:moveTo>
                    <a:pt x="0" y="0"/>
                  </a:moveTo>
                  <a:lnTo>
                    <a:pt x="4754880" y="0"/>
                  </a:lnTo>
                  <a:lnTo>
                    <a:pt x="4754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322" b="-51322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475488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Recommendation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2550140" y="3771900"/>
            <a:ext cx="4526280" cy="754380"/>
            <a:chOff x="0" y="0"/>
            <a:chExt cx="6035040" cy="100584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6035040" cy="1005840"/>
            </a:xfrm>
            <a:custGeom>
              <a:avLst/>
              <a:gdLst/>
              <a:ahLst/>
              <a:cxnLst/>
              <a:rect l="l" t="t" r="r" b="b"/>
              <a:pathLst>
                <a:path w="6035040" h="1005840">
                  <a:moveTo>
                    <a:pt x="0" y="0"/>
                  </a:moveTo>
                  <a:lnTo>
                    <a:pt x="6035040" y="0"/>
                  </a:lnTo>
                  <a:lnTo>
                    <a:pt x="6035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66675"/>
              <a:ext cx="6035040" cy="10725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87"/>
                </a:lnSpc>
              </a:pPr>
              <a:r>
                <a:rPr lang="en-US" sz="1875" b="1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You're spending faster than planned on Dining.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2550140" y="4594860"/>
            <a:ext cx="4526280" cy="1028700"/>
            <a:chOff x="0" y="0"/>
            <a:chExt cx="6035040" cy="137160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6035040" cy="1371600"/>
            </a:xfrm>
            <a:custGeom>
              <a:avLst/>
              <a:gdLst/>
              <a:ahLst/>
              <a:cxnLst/>
              <a:rect l="l" t="t" r="r" b="b"/>
              <a:pathLst>
                <a:path w="6035040" h="1371600">
                  <a:moveTo>
                    <a:pt x="0" y="0"/>
                  </a:moveTo>
                  <a:lnTo>
                    <a:pt x="6035040" y="0"/>
                  </a:lnTo>
                  <a:lnTo>
                    <a:pt x="60350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734" b="-35734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66675"/>
              <a:ext cx="6035040" cy="1438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normal target is around ₹167/day. Try reducing Dining spending to around: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2550140" y="5692140"/>
            <a:ext cx="4526280" cy="891540"/>
            <a:chOff x="0" y="0"/>
            <a:chExt cx="6035040" cy="1188720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6035040" cy="1188720"/>
            </a:xfrm>
            <a:custGeom>
              <a:avLst/>
              <a:gdLst/>
              <a:ahLst/>
              <a:cxnLst/>
              <a:rect l="l" t="t" r="r" b="b"/>
              <a:pathLst>
                <a:path w="6035040" h="11887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5925312" y="0"/>
                  </a:lnTo>
                  <a:cubicBezTo>
                    <a:pt x="5985891" y="0"/>
                    <a:pt x="6035040" y="49149"/>
                    <a:pt x="6035040" y="109728"/>
                  </a:cubicBezTo>
                  <a:lnTo>
                    <a:pt x="6035040" y="1078992"/>
                  </a:lnTo>
                  <a:cubicBezTo>
                    <a:pt x="6035040" y="1139571"/>
                    <a:pt x="5985891" y="1188720"/>
                    <a:pt x="5925312" y="1188720"/>
                  </a:cubicBezTo>
                  <a:lnTo>
                    <a:pt x="109728" y="1188720"/>
                  </a:lnTo>
                  <a:cubicBezTo>
                    <a:pt x="49149" y="1188720"/>
                    <a:pt x="0" y="1139571"/>
                    <a:pt x="0" y="1078992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id="94" name="Group 94"/>
          <p:cNvGrpSpPr/>
          <p:nvPr/>
        </p:nvGrpSpPr>
        <p:grpSpPr>
          <a:xfrm>
            <a:off x="12550140" y="5692140"/>
            <a:ext cx="4526280" cy="891540"/>
            <a:chOff x="0" y="0"/>
            <a:chExt cx="6035040" cy="1188720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6035040" cy="1188720"/>
            </a:xfrm>
            <a:custGeom>
              <a:avLst/>
              <a:gdLst/>
              <a:ahLst/>
              <a:cxnLst/>
              <a:rect l="l" t="t" r="r" b="b"/>
              <a:pathLst>
                <a:path w="6035040" h="1188720">
                  <a:moveTo>
                    <a:pt x="0" y="0"/>
                  </a:moveTo>
                  <a:lnTo>
                    <a:pt x="6035040" y="0"/>
                  </a:lnTo>
                  <a:lnTo>
                    <a:pt x="603504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924" b="-48924"/>
              </a:stretch>
            </a:blipFill>
          </p:spPr>
        </p:sp>
        <p:sp>
          <p:nvSpPr>
            <p:cNvPr id="96" name="TextBox 96"/>
            <p:cNvSpPr txBox="1"/>
            <p:nvPr/>
          </p:nvSpPr>
          <p:spPr>
            <a:xfrm>
              <a:off x="0" y="-38100"/>
              <a:ext cx="6035040" cy="12268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₹115 – ₹120 / day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12550140" y="6720840"/>
            <a:ext cx="4526280" cy="548640"/>
            <a:chOff x="0" y="0"/>
            <a:chExt cx="6035040" cy="731520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6035040" cy="731520"/>
            </a:xfrm>
            <a:custGeom>
              <a:avLst/>
              <a:gdLst/>
              <a:ahLst/>
              <a:cxnLst/>
              <a:rect l="l" t="t" r="r" b="b"/>
              <a:pathLst>
                <a:path w="6035040" h="731520">
                  <a:moveTo>
                    <a:pt x="0" y="0"/>
                  </a:moveTo>
                  <a:lnTo>
                    <a:pt x="6035040" y="0"/>
                  </a:lnTo>
                  <a:lnTo>
                    <a:pt x="6035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751" b="-110751"/>
              </a:stretch>
            </a:blipFill>
          </p:spPr>
        </p:sp>
        <p:sp>
          <p:nvSpPr>
            <p:cNvPr id="99" name="TextBox 99"/>
            <p:cNvSpPr txBox="1"/>
            <p:nvPr/>
          </p:nvSpPr>
          <p:spPr>
            <a:xfrm>
              <a:off x="0" y="-28575"/>
              <a:ext cx="6035040" cy="7600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6B849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to reduce the impact on savings.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822960" y="8503920"/>
            <a:ext cx="16596360" cy="891540"/>
            <a:chOff x="0" y="0"/>
            <a:chExt cx="22128480" cy="1188720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22128480" cy="1188720"/>
            </a:xfrm>
            <a:custGeom>
              <a:avLst/>
              <a:gdLst/>
              <a:ahLst/>
              <a:cxnLst/>
              <a:rect l="l" t="t" r="r" b="b"/>
              <a:pathLst>
                <a:path w="22128480" h="11887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1042416"/>
                  </a:lnTo>
                  <a:cubicBezTo>
                    <a:pt x="22128480" y="1123188"/>
                    <a:pt x="22062948" y="1188720"/>
                    <a:pt x="21982176" y="1188720"/>
                  </a:cubicBezTo>
                  <a:lnTo>
                    <a:pt x="146304" y="1188720"/>
                  </a:lnTo>
                  <a:cubicBezTo>
                    <a:pt x="65532" y="1188720"/>
                    <a:pt x="0" y="1123188"/>
                    <a:pt x="0" y="1042416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id="102" name="Group 102"/>
          <p:cNvGrpSpPr/>
          <p:nvPr/>
        </p:nvGrpSpPr>
        <p:grpSpPr>
          <a:xfrm>
            <a:off x="822960" y="8503920"/>
            <a:ext cx="16596360" cy="891540"/>
            <a:chOff x="0" y="0"/>
            <a:chExt cx="22128480" cy="1188720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22128480" cy="1188720"/>
            </a:xfrm>
            <a:custGeom>
              <a:avLst/>
              <a:gdLst/>
              <a:ahLst/>
              <a:cxnLst/>
              <a:rect l="l" t="t" r="r" b="b"/>
              <a:pathLst>
                <a:path w="22128480" h="1188720">
                  <a:moveTo>
                    <a:pt x="0" y="0"/>
                  </a:moveTo>
                  <a:lnTo>
                    <a:pt x="22128480" y="0"/>
                  </a:lnTo>
                  <a:lnTo>
                    <a:pt x="221284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2721" b="-312721"/>
              </a:stretch>
            </a:blipFill>
          </p:spPr>
        </p:sp>
        <p:sp>
          <p:nvSpPr>
            <p:cNvPr id="104" name="TextBox 104"/>
            <p:cNvSpPr txBox="1"/>
            <p:nvPr/>
          </p:nvSpPr>
          <p:spPr>
            <a:xfrm>
              <a:off x="0" y="-47625"/>
              <a:ext cx="22128480" cy="12363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IDEA:  </a:t>
              </a: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Overspending  →  Lower Savings  →  Reduce Spending  →  Protect Savings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17323308" y="9669780"/>
            <a:ext cx="548640" cy="411480"/>
            <a:chOff x="0" y="0"/>
            <a:chExt cx="731520" cy="548640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731520" cy="548640"/>
            </a:xfrm>
            <a:custGeom>
              <a:avLst/>
              <a:gdLst/>
              <a:ahLst/>
              <a:cxnLst/>
              <a:rect l="l" t="t" r="r" b="b"/>
              <a:pathLst>
                <a:path w="731520" h="54864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107" name="TextBox 107"/>
            <p:cNvSpPr txBox="1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84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685800" y="9669780"/>
            <a:ext cx="8229600" cy="411480"/>
            <a:chOff x="0" y="0"/>
            <a:chExt cx="10972800" cy="548640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10" name="TextBox 110"/>
            <p:cNvSpPr txBox="1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84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PERSONAL FINANCE EXPENSE ANALYZER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76072"/>
            <a:ext cx="13716000" cy="480060"/>
            <a:chOff x="0" y="0"/>
            <a:chExt cx="182880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640080"/>
            </a:xfrm>
            <a:custGeom>
              <a:avLst/>
              <a:gdLst/>
              <a:ahLst/>
              <a:cxnLst/>
              <a:rect l="l" t="t" r="r" b="b"/>
              <a:pathLst>
                <a:path w="18288000" h="64008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15" b="-506715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28800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299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ACADEMIC FOUNDATIONS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987552"/>
            <a:ext cx="15773400" cy="960120"/>
            <a:chOff x="0" y="0"/>
            <a:chExt cx="21031200" cy="12801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11" b="-27011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0B3D5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Course Mapping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3377565"/>
            <a:ext cx="3977640" cy="4251960"/>
            <a:chOff x="0" y="0"/>
            <a:chExt cx="5303520" cy="56692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303520" cy="5669280"/>
            </a:xfrm>
            <a:custGeom>
              <a:avLst/>
              <a:gdLst/>
              <a:ahLst/>
              <a:cxnLst/>
              <a:rect l="l" t="t" r="r" b="b"/>
              <a:pathLst>
                <a:path w="5303520" h="56692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5138928" y="0"/>
                  </a:lnTo>
                  <a:cubicBezTo>
                    <a:pt x="5229860" y="0"/>
                    <a:pt x="5303520" y="73660"/>
                    <a:pt x="5303520" y="164592"/>
                  </a:cubicBezTo>
                  <a:lnTo>
                    <a:pt x="5303520" y="5504688"/>
                  </a:lnTo>
                  <a:cubicBezTo>
                    <a:pt x="5303520" y="5595620"/>
                    <a:pt x="5229860" y="5669280"/>
                    <a:pt x="5138928" y="5669280"/>
                  </a:cubicBezTo>
                  <a:lnTo>
                    <a:pt x="164592" y="5669280"/>
                  </a:lnTo>
                  <a:cubicBezTo>
                    <a:pt x="73660" y="5669280"/>
                    <a:pt x="0" y="5595620"/>
                    <a:pt x="0" y="5504688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2292858" y="3857625"/>
            <a:ext cx="1028700" cy="1028700"/>
            <a:chOff x="0" y="0"/>
            <a:chExt cx="1371600" cy="1371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0B3D59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2550033" y="4114800"/>
            <a:ext cx="514350" cy="514350"/>
            <a:chOff x="0" y="0"/>
            <a:chExt cx="685800" cy="685800"/>
          </a:xfrm>
        </p:grpSpPr>
        <p:sp>
          <p:nvSpPr>
            <p:cNvPr id="13" name="Freeform 13" descr="/home/claude/finance_ppt/icons/database_white.png"/>
            <p:cNvSpPr/>
            <p:nvPr/>
          </p:nvSpPr>
          <p:spPr>
            <a:xfrm>
              <a:off x="0" y="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960120" y="4886325"/>
            <a:ext cx="3703320" cy="548640"/>
            <a:chOff x="0" y="0"/>
            <a:chExt cx="4937760" cy="7315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937760" cy="731520"/>
            </a:xfrm>
            <a:custGeom>
              <a:avLst/>
              <a:gdLst/>
              <a:ahLst/>
              <a:cxnLst/>
              <a:rect l="l" t="t" r="r" b="b"/>
              <a:pathLst>
                <a:path w="4937760" h="731520">
                  <a:moveTo>
                    <a:pt x="0" y="0"/>
                  </a:moveTo>
                  <a:lnTo>
                    <a:pt x="4937760" y="0"/>
                  </a:lnTo>
                  <a:lnTo>
                    <a:pt x="4937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1524" b="-81524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493776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DBMS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8700" y="5407533"/>
            <a:ext cx="3566160" cy="754380"/>
            <a:chOff x="0" y="0"/>
            <a:chExt cx="4754880" cy="10058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754880" cy="1005840"/>
            </a:xfrm>
            <a:custGeom>
              <a:avLst/>
              <a:gdLst/>
              <a:ahLst/>
              <a:cxnLst/>
              <a:rect l="l" t="t" r="r" b="b"/>
              <a:pathLst>
                <a:path w="4754880" h="1005840">
                  <a:moveTo>
                    <a:pt x="0" y="0"/>
                  </a:moveTo>
                  <a:lnTo>
                    <a:pt x="4754880" y="0"/>
                  </a:lnTo>
                  <a:lnTo>
                    <a:pt x="47548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111" b="-42111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4754880" cy="1053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500" i="1">
                  <a:solidFill>
                    <a:srgbClr val="1C729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Store &amp; retrieve financial data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07008" y="6189345"/>
            <a:ext cx="3291840" cy="1303020"/>
            <a:chOff x="0" y="0"/>
            <a:chExt cx="4389120" cy="17373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389120" cy="1737360"/>
            </a:xfrm>
            <a:custGeom>
              <a:avLst/>
              <a:gdLst/>
              <a:ahLst/>
              <a:cxnLst/>
              <a:rect l="l" t="t" r="r" b="b"/>
              <a:pathLst>
                <a:path w="4389120" h="1737360">
                  <a:moveTo>
                    <a:pt x="0" y="0"/>
                  </a:moveTo>
                  <a:lnTo>
                    <a:pt x="4389120" y="0"/>
                  </a:lnTo>
                  <a:lnTo>
                    <a:pt x="43891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6" r="-786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4389120" cy="17849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85036" lvl="1" indent="-142518" algn="l">
                <a:lnSpc>
                  <a:spcPts val="2173"/>
                </a:lnSpc>
                <a:buFont typeface="Arial"/>
                <a:buChar char="•"/>
              </a:pPr>
              <a:r>
                <a:rPr lang="en-US" sz="1575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Transactions</a:t>
              </a:r>
            </a:p>
            <a:p>
              <a:pPr marL="285036" lvl="1" indent="-142518" algn="l">
                <a:lnSpc>
                  <a:spcPts val="2173"/>
                </a:lnSpc>
                <a:buFont typeface="Arial"/>
                <a:buChar char="•"/>
              </a:pPr>
              <a:r>
                <a:rPr lang="en-US" sz="1575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Budgets</a:t>
              </a:r>
            </a:p>
            <a:p>
              <a:pPr marL="285036" lvl="1" indent="-142518" algn="l">
                <a:lnSpc>
                  <a:spcPts val="2173"/>
                </a:lnSpc>
                <a:buFont typeface="Arial"/>
                <a:buChar char="•"/>
              </a:pPr>
              <a:r>
                <a:rPr lang="en-US" sz="1575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Categories</a:t>
              </a:r>
            </a:p>
            <a:p>
              <a:pPr marL="285036" lvl="1" indent="-142518" algn="l">
                <a:lnSpc>
                  <a:spcPts val="2173"/>
                </a:lnSpc>
                <a:buFont typeface="Arial"/>
                <a:buChar char="•"/>
              </a:pPr>
              <a:r>
                <a:rPr lang="en-US" sz="1575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Savings goals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47488" y="3377565"/>
            <a:ext cx="3977640" cy="4251960"/>
            <a:chOff x="0" y="0"/>
            <a:chExt cx="5303520" cy="566928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303520" cy="5669280"/>
            </a:xfrm>
            <a:custGeom>
              <a:avLst/>
              <a:gdLst/>
              <a:ahLst/>
              <a:cxnLst/>
              <a:rect l="l" t="t" r="r" b="b"/>
              <a:pathLst>
                <a:path w="5303520" h="56692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5138928" y="0"/>
                  </a:lnTo>
                  <a:cubicBezTo>
                    <a:pt x="5229860" y="0"/>
                    <a:pt x="5303520" y="73660"/>
                    <a:pt x="5303520" y="164592"/>
                  </a:cubicBezTo>
                  <a:lnTo>
                    <a:pt x="5303520" y="5504688"/>
                  </a:lnTo>
                  <a:cubicBezTo>
                    <a:pt x="5303520" y="5595620"/>
                    <a:pt x="5229860" y="5669280"/>
                    <a:pt x="5138928" y="5669280"/>
                  </a:cubicBezTo>
                  <a:lnTo>
                    <a:pt x="164592" y="5669280"/>
                  </a:lnTo>
                  <a:cubicBezTo>
                    <a:pt x="73660" y="5669280"/>
                    <a:pt x="0" y="5595620"/>
                    <a:pt x="0" y="5504688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6517386" y="3857625"/>
            <a:ext cx="1028700" cy="1028700"/>
            <a:chOff x="0" y="0"/>
            <a:chExt cx="1371600" cy="13716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0B3D59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6774561" y="4114800"/>
            <a:ext cx="514350" cy="514350"/>
            <a:chOff x="0" y="0"/>
            <a:chExt cx="685800" cy="685800"/>
          </a:xfrm>
        </p:grpSpPr>
        <p:sp>
          <p:nvSpPr>
            <p:cNvPr id="28" name="Freeform 28" descr="/home/claude/finance_ppt/icons/sort_white.png"/>
            <p:cNvSpPr/>
            <p:nvPr/>
          </p:nvSpPr>
          <p:spPr>
            <a:xfrm>
              <a:off x="0" y="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5184648" y="4886325"/>
            <a:ext cx="3703320" cy="548640"/>
            <a:chOff x="0" y="0"/>
            <a:chExt cx="4937760" cy="7315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937760" cy="731520"/>
            </a:xfrm>
            <a:custGeom>
              <a:avLst/>
              <a:gdLst/>
              <a:ahLst/>
              <a:cxnLst/>
              <a:rect l="l" t="t" r="r" b="b"/>
              <a:pathLst>
                <a:path w="4937760" h="731520">
                  <a:moveTo>
                    <a:pt x="0" y="0"/>
                  </a:moveTo>
                  <a:lnTo>
                    <a:pt x="4937760" y="0"/>
                  </a:lnTo>
                  <a:lnTo>
                    <a:pt x="4937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1524" b="-81524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493776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DSA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253228" y="5407533"/>
            <a:ext cx="3566160" cy="754380"/>
            <a:chOff x="0" y="0"/>
            <a:chExt cx="4754880" cy="100584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754880" cy="1005840"/>
            </a:xfrm>
            <a:custGeom>
              <a:avLst/>
              <a:gdLst/>
              <a:ahLst/>
              <a:cxnLst/>
              <a:rect l="l" t="t" r="r" b="b"/>
              <a:pathLst>
                <a:path w="4754880" h="1005840">
                  <a:moveTo>
                    <a:pt x="0" y="0"/>
                  </a:moveTo>
                  <a:lnTo>
                    <a:pt x="4754880" y="0"/>
                  </a:lnTo>
                  <a:lnTo>
                    <a:pt x="47548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111" b="-42111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4754880" cy="1053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500" i="1">
                  <a:solidFill>
                    <a:srgbClr val="1C729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Process transactions efficiently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431536" y="6189345"/>
            <a:ext cx="3291840" cy="1303020"/>
            <a:chOff x="0" y="0"/>
            <a:chExt cx="4389120" cy="173736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389120" cy="1737360"/>
            </a:xfrm>
            <a:custGeom>
              <a:avLst/>
              <a:gdLst/>
              <a:ahLst/>
              <a:cxnLst/>
              <a:rect l="l" t="t" r="r" b="b"/>
              <a:pathLst>
                <a:path w="4389120" h="1737360">
                  <a:moveTo>
                    <a:pt x="0" y="0"/>
                  </a:moveTo>
                  <a:lnTo>
                    <a:pt x="4389120" y="0"/>
                  </a:lnTo>
                  <a:lnTo>
                    <a:pt x="43891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6" r="-786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4389120" cy="17849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85036" lvl="1" indent="-142518" algn="l">
                <a:lnSpc>
                  <a:spcPts val="2173"/>
                </a:lnSpc>
                <a:buFont typeface="Arial"/>
                <a:buChar char="•"/>
              </a:pPr>
              <a:r>
                <a:rPr lang="en-US" sz="1575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Search</a:t>
              </a:r>
            </a:p>
            <a:p>
              <a:pPr marL="285036" lvl="1" indent="-142518" algn="l">
                <a:lnSpc>
                  <a:spcPts val="2173"/>
                </a:lnSpc>
                <a:buFont typeface="Arial"/>
                <a:buChar char="•"/>
              </a:pPr>
              <a:r>
                <a:rPr lang="en-US" sz="1575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Sort</a:t>
              </a:r>
            </a:p>
            <a:p>
              <a:pPr marL="285036" lvl="1" indent="-142518" algn="l">
                <a:lnSpc>
                  <a:spcPts val="2173"/>
                </a:lnSpc>
                <a:buFont typeface="Arial"/>
                <a:buChar char="•"/>
              </a:pPr>
              <a:r>
                <a:rPr lang="en-US" sz="1575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Group transactions</a:t>
              </a:r>
            </a:p>
            <a:p>
              <a:pPr marL="285036" lvl="1" indent="-142518" algn="l">
                <a:lnSpc>
                  <a:spcPts val="2173"/>
                </a:lnSpc>
                <a:buFont typeface="Arial"/>
                <a:buChar char="•"/>
              </a:pPr>
              <a:r>
                <a:rPr lang="en-US" sz="1575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Category-wise totals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272016" y="3377565"/>
            <a:ext cx="3977640" cy="4251960"/>
            <a:chOff x="0" y="0"/>
            <a:chExt cx="5303520" cy="566928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303520" cy="5669280"/>
            </a:xfrm>
            <a:custGeom>
              <a:avLst/>
              <a:gdLst/>
              <a:ahLst/>
              <a:cxnLst/>
              <a:rect l="l" t="t" r="r" b="b"/>
              <a:pathLst>
                <a:path w="5303520" h="56692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5138928" y="0"/>
                  </a:lnTo>
                  <a:cubicBezTo>
                    <a:pt x="5229860" y="0"/>
                    <a:pt x="5303520" y="73660"/>
                    <a:pt x="5303520" y="164592"/>
                  </a:cubicBezTo>
                  <a:lnTo>
                    <a:pt x="5303520" y="5504688"/>
                  </a:lnTo>
                  <a:cubicBezTo>
                    <a:pt x="5303520" y="5595620"/>
                    <a:pt x="5229860" y="5669280"/>
                    <a:pt x="5138928" y="5669280"/>
                  </a:cubicBezTo>
                  <a:lnTo>
                    <a:pt x="164592" y="5669280"/>
                  </a:lnTo>
                  <a:cubicBezTo>
                    <a:pt x="73660" y="5669280"/>
                    <a:pt x="0" y="5595620"/>
                    <a:pt x="0" y="5504688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0741914" y="3857625"/>
            <a:ext cx="1028700" cy="1028700"/>
            <a:chOff x="0" y="0"/>
            <a:chExt cx="1371600" cy="13716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0B3D59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0999089" y="4114800"/>
            <a:ext cx="514350" cy="514350"/>
            <a:chOff x="0" y="0"/>
            <a:chExt cx="685800" cy="685800"/>
          </a:xfrm>
        </p:grpSpPr>
        <p:sp>
          <p:nvSpPr>
            <p:cNvPr id="43" name="Freeform 43" descr="/home/claude/finance_ppt/icons/chartbar_white.png"/>
            <p:cNvSpPr/>
            <p:nvPr/>
          </p:nvSpPr>
          <p:spPr>
            <a:xfrm>
              <a:off x="0" y="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44" name="Group 44"/>
          <p:cNvGrpSpPr/>
          <p:nvPr/>
        </p:nvGrpSpPr>
        <p:grpSpPr>
          <a:xfrm>
            <a:off x="9409176" y="4886325"/>
            <a:ext cx="3703320" cy="548640"/>
            <a:chOff x="0" y="0"/>
            <a:chExt cx="4937760" cy="73152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937760" cy="731520"/>
            </a:xfrm>
            <a:custGeom>
              <a:avLst/>
              <a:gdLst/>
              <a:ahLst/>
              <a:cxnLst/>
              <a:rect l="l" t="t" r="r" b="b"/>
              <a:pathLst>
                <a:path w="4937760" h="731520">
                  <a:moveTo>
                    <a:pt x="0" y="0"/>
                  </a:moveTo>
                  <a:lnTo>
                    <a:pt x="4937760" y="0"/>
                  </a:lnTo>
                  <a:lnTo>
                    <a:pt x="4937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1524" b="-81524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57150"/>
              <a:ext cx="493776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Statistics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477756" y="5407533"/>
            <a:ext cx="3566160" cy="754380"/>
            <a:chOff x="0" y="0"/>
            <a:chExt cx="4754880" cy="100584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754880" cy="1005840"/>
            </a:xfrm>
            <a:custGeom>
              <a:avLst/>
              <a:gdLst/>
              <a:ahLst/>
              <a:cxnLst/>
              <a:rect l="l" t="t" r="r" b="b"/>
              <a:pathLst>
                <a:path w="4754880" h="1005840">
                  <a:moveTo>
                    <a:pt x="0" y="0"/>
                  </a:moveTo>
                  <a:lnTo>
                    <a:pt x="4754880" y="0"/>
                  </a:lnTo>
                  <a:lnTo>
                    <a:pt x="47548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111" b="-42111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4754880" cy="1053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500" i="1">
                  <a:solidFill>
                    <a:srgbClr val="1C729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Understand spending behavior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656064" y="6189345"/>
            <a:ext cx="3291840" cy="1303020"/>
            <a:chOff x="0" y="0"/>
            <a:chExt cx="4389120" cy="173736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389120" cy="1737360"/>
            </a:xfrm>
            <a:custGeom>
              <a:avLst/>
              <a:gdLst/>
              <a:ahLst/>
              <a:cxnLst/>
              <a:rect l="l" t="t" r="r" b="b"/>
              <a:pathLst>
                <a:path w="4389120" h="1737360">
                  <a:moveTo>
                    <a:pt x="0" y="0"/>
                  </a:moveTo>
                  <a:lnTo>
                    <a:pt x="4389120" y="0"/>
                  </a:lnTo>
                  <a:lnTo>
                    <a:pt x="43891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6" r="-786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47625"/>
              <a:ext cx="4389120" cy="17849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85036" lvl="1" indent="-142518" algn="l">
                <a:lnSpc>
                  <a:spcPts val="2173"/>
                </a:lnSpc>
                <a:buFont typeface="Arial"/>
                <a:buChar char="•"/>
              </a:pPr>
              <a:r>
                <a:rPr lang="en-US" sz="1575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Average &amp; median</a:t>
              </a:r>
            </a:p>
            <a:p>
              <a:pPr marL="285036" lvl="1" indent="-142518" algn="l">
                <a:lnSpc>
                  <a:spcPts val="2173"/>
                </a:lnSpc>
                <a:buFont typeface="Arial"/>
                <a:buChar char="•"/>
              </a:pPr>
              <a:r>
                <a:rPr lang="en-US" sz="1575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Spending variation</a:t>
              </a:r>
            </a:p>
            <a:p>
              <a:pPr marL="285036" lvl="1" indent="-142518" algn="l">
                <a:lnSpc>
                  <a:spcPts val="2173"/>
                </a:lnSpc>
                <a:buFont typeface="Arial"/>
                <a:buChar char="•"/>
              </a:pPr>
              <a:r>
                <a:rPr lang="en-US" sz="1575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Trends</a:t>
              </a:r>
            </a:p>
            <a:p>
              <a:pPr marL="285036" lvl="1" indent="-142518" algn="l">
                <a:lnSpc>
                  <a:spcPts val="2173"/>
                </a:lnSpc>
                <a:buFont typeface="Arial"/>
                <a:buChar char="•"/>
              </a:pPr>
              <a:r>
                <a:rPr lang="en-US" sz="1575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Normal patterns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3496544" y="3377565"/>
            <a:ext cx="3977640" cy="4251960"/>
            <a:chOff x="0" y="0"/>
            <a:chExt cx="5303520" cy="566928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5303520" cy="5669280"/>
            </a:xfrm>
            <a:custGeom>
              <a:avLst/>
              <a:gdLst/>
              <a:ahLst/>
              <a:cxnLst/>
              <a:rect l="l" t="t" r="r" b="b"/>
              <a:pathLst>
                <a:path w="5303520" h="56692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5138928" y="0"/>
                  </a:lnTo>
                  <a:cubicBezTo>
                    <a:pt x="5229860" y="0"/>
                    <a:pt x="5303520" y="73660"/>
                    <a:pt x="5303520" y="164592"/>
                  </a:cubicBezTo>
                  <a:lnTo>
                    <a:pt x="5303520" y="5504688"/>
                  </a:lnTo>
                  <a:cubicBezTo>
                    <a:pt x="5303520" y="5595620"/>
                    <a:pt x="5229860" y="5669280"/>
                    <a:pt x="5138928" y="5669280"/>
                  </a:cubicBezTo>
                  <a:lnTo>
                    <a:pt x="164592" y="5669280"/>
                  </a:lnTo>
                  <a:cubicBezTo>
                    <a:pt x="73660" y="5669280"/>
                    <a:pt x="0" y="5595620"/>
                    <a:pt x="0" y="5504688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14966442" y="3857625"/>
            <a:ext cx="1028700" cy="1028700"/>
            <a:chOff x="0" y="0"/>
            <a:chExt cx="1371600" cy="13716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0B3D59"/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15223617" y="4114800"/>
            <a:ext cx="514350" cy="514350"/>
            <a:chOff x="0" y="0"/>
            <a:chExt cx="685800" cy="685800"/>
          </a:xfrm>
        </p:grpSpPr>
        <p:sp>
          <p:nvSpPr>
            <p:cNvPr id="58" name="Freeform 58" descr="/home/claude/finance_ppt/icons/brain_white.png"/>
            <p:cNvSpPr/>
            <p:nvPr/>
          </p:nvSpPr>
          <p:spPr>
            <a:xfrm>
              <a:off x="0" y="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59" name="Group 59"/>
          <p:cNvGrpSpPr/>
          <p:nvPr/>
        </p:nvGrpSpPr>
        <p:grpSpPr>
          <a:xfrm>
            <a:off x="13633704" y="4886325"/>
            <a:ext cx="3703320" cy="548640"/>
            <a:chOff x="0" y="0"/>
            <a:chExt cx="4937760" cy="73152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937760" cy="731520"/>
            </a:xfrm>
            <a:custGeom>
              <a:avLst/>
              <a:gdLst/>
              <a:ahLst/>
              <a:cxnLst/>
              <a:rect l="l" t="t" r="r" b="b"/>
              <a:pathLst>
                <a:path w="4937760" h="731520">
                  <a:moveTo>
                    <a:pt x="0" y="0"/>
                  </a:moveTo>
                  <a:lnTo>
                    <a:pt x="4937760" y="0"/>
                  </a:lnTo>
                  <a:lnTo>
                    <a:pt x="4937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1524" b="-81524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57150"/>
              <a:ext cx="493776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OOPS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3702284" y="5407533"/>
            <a:ext cx="3566160" cy="754380"/>
            <a:chOff x="0" y="0"/>
            <a:chExt cx="4754880" cy="100584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754880" cy="1005840"/>
            </a:xfrm>
            <a:custGeom>
              <a:avLst/>
              <a:gdLst/>
              <a:ahLst/>
              <a:cxnLst/>
              <a:rect l="l" t="t" r="r" b="b"/>
              <a:pathLst>
                <a:path w="4754880" h="1005840">
                  <a:moveTo>
                    <a:pt x="0" y="0"/>
                  </a:moveTo>
                  <a:lnTo>
                    <a:pt x="4754880" y="0"/>
                  </a:lnTo>
                  <a:lnTo>
                    <a:pt x="47548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111" b="-42111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47625"/>
              <a:ext cx="4754880" cy="1053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500" i="1">
                  <a:solidFill>
                    <a:srgbClr val="1C729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Organize &amp; structure the application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3880592" y="6198870"/>
            <a:ext cx="3291840" cy="1375142"/>
            <a:chOff x="0" y="0"/>
            <a:chExt cx="4389120" cy="1833523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389120" cy="1833523"/>
            </a:xfrm>
            <a:custGeom>
              <a:avLst/>
              <a:gdLst/>
              <a:ahLst/>
              <a:cxnLst/>
              <a:rect l="l" t="t" r="r" b="b"/>
              <a:pathLst>
                <a:path w="4389120" h="1833523">
                  <a:moveTo>
                    <a:pt x="0" y="0"/>
                  </a:moveTo>
                  <a:lnTo>
                    <a:pt x="4389120" y="0"/>
                  </a:lnTo>
                  <a:lnTo>
                    <a:pt x="4389120" y="1833523"/>
                  </a:lnTo>
                  <a:lnTo>
                    <a:pt x="0" y="18335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6" r="-786" b="5244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47625"/>
              <a:ext cx="4389120" cy="18811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85036" lvl="1" indent="-142518" algn="l">
                <a:lnSpc>
                  <a:spcPts val="2173"/>
                </a:lnSpc>
                <a:buFont typeface="Arial"/>
                <a:buChar char="•"/>
              </a:pPr>
              <a:r>
                <a:rPr lang="en-US" sz="1575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Classes &amp; Objects</a:t>
              </a:r>
            </a:p>
            <a:p>
              <a:pPr marL="285036" lvl="1" indent="-142518" algn="l">
                <a:lnSpc>
                  <a:spcPts val="2173"/>
                </a:lnSpc>
                <a:buFont typeface="Arial"/>
                <a:buChar char="•"/>
              </a:pPr>
              <a:r>
                <a:rPr lang="en-US" sz="1575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Encapsulation</a:t>
              </a:r>
            </a:p>
            <a:p>
              <a:pPr marL="285036" lvl="1" indent="-142518" algn="l">
                <a:lnSpc>
                  <a:spcPts val="2173"/>
                </a:lnSpc>
                <a:buFont typeface="Arial"/>
                <a:buChar char="•"/>
              </a:pPr>
              <a:r>
                <a:rPr lang="en-US" sz="1575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Inheritance</a:t>
              </a:r>
            </a:p>
            <a:p>
              <a:pPr marL="285036" lvl="1" indent="-142518" algn="l">
                <a:lnSpc>
                  <a:spcPts val="2173"/>
                </a:lnSpc>
                <a:buFont typeface="Arial"/>
                <a:buChar char="•"/>
              </a:pPr>
              <a:r>
                <a:rPr lang="en-US" sz="1575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Code Reusability</a:t>
              </a:r>
            </a:p>
            <a:p>
              <a:pPr algn="l">
                <a:lnSpc>
                  <a:spcPts val="2173"/>
                </a:lnSpc>
              </a:pPr>
              <a:endParaRPr lang="en-US" sz="1575">
                <a:solidFill>
                  <a:srgbClr val="1A2B3C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7323308" y="9669780"/>
            <a:ext cx="548640" cy="411480"/>
            <a:chOff x="0" y="0"/>
            <a:chExt cx="731520" cy="54864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731520" cy="548640"/>
            </a:xfrm>
            <a:custGeom>
              <a:avLst/>
              <a:gdLst/>
              <a:ahLst/>
              <a:cxnLst/>
              <a:rect l="l" t="t" r="r" b="b"/>
              <a:pathLst>
                <a:path w="731520" h="54864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84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85800" y="9669780"/>
            <a:ext cx="8229600" cy="411480"/>
            <a:chOff x="0" y="0"/>
            <a:chExt cx="10972800" cy="54864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84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PERSONAL FINANCE EXPENSE ANALYZER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576072"/>
            <a:ext cx="13716000" cy="480060"/>
            <a:chOff x="0" y="0"/>
            <a:chExt cx="182880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640080"/>
            </a:xfrm>
            <a:custGeom>
              <a:avLst/>
              <a:gdLst/>
              <a:ahLst/>
              <a:cxnLst/>
              <a:rect l="l" t="t" r="r" b="b"/>
              <a:pathLst>
                <a:path w="18288000" h="64008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15" b="-506715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28800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299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IMPLEMENTATION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987552"/>
            <a:ext cx="15773400" cy="3303594"/>
            <a:chOff x="0" y="0"/>
            <a:chExt cx="21031200" cy="44047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4404792"/>
            </a:xfrm>
            <a:custGeom>
              <a:avLst/>
              <a:gdLst/>
              <a:ahLst/>
              <a:cxnLst/>
              <a:rect l="l" t="t" r="r" b="b"/>
              <a:pathLst>
                <a:path w="21031200" h="4404792">
                  <a:moveTo>
                    <a:pt x="0" y="0"/>
                  </a:moveTo>
                  <a:lnTo>
                    <a:pt x="21031200" y="0"/>
                  </a:lnTo>
                  <a:lnTo>
                    <a:pt x="21031200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502" b="-756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031200" cy="4423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0B3D5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Technology Stack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43534" y="2400300"/>
            <a:ext cx="5349240" cy="2125980"/>
            <a:chOff x="0" y="0"/>
            <a:chExt cx="7132320" cy="28346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132320" cy="2834640"/>
            </a:xfrm>
            <a:custGeom>
              <a:avLst/>
              <a:gdLst/>
              <a:ahLst/>
              <a:cxnLst/>
              <a:rect l="l" t="t" r="r" b="b"/>
              <a:pathLst>
                <a:path w="7132320" h="283464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967728" y="0"/>
                  </a:lnTo>
                  <a:cubicBezTo>
                    <a:pt x="7058660" y="0"/>
                    <a:pt x="7132320" y="73660"/>
                    <a:pt x="7132320" y="164592"/>
                  </a:cubicBezTo>
                  <a:lnTo>
                    <a:pt x="7132320" y="2670048"/>
                  </a:lnTo>
                  <a:cubicBezTo>
                    <a:pt x="7132320" y="2760980"/>
                    <a:pt x="7058660" y="2834640"/>
                    <a:pt x="6967728" y="2834640"/>
                  </a:cubicBezTo>
                  <a:lnTo>
                    <a:pt x="164592" y="2834640"/>
                  </a:lnTo>
                  <a:cubicBezTo>
                    <a:pt x="73660" y="2834640"/>
                    <a:pt x="0" y="2760980"/>
                    <a:pt x="0" y="2670048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186434" y="2880360"/>
            <a:ext cx="1165860" cy="1165860"/>
            <a:chOff x="0" y="0"/>
            <a:chExt cx="1554480" cy="15544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0B3D59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477899" y="3171825"/>
            <a:ext cx="582930" cy="582930"/>
            <a:chOff x="0" y="0"/>
            <a:chExt cx="777240" cy="777240"/>
          </a:xfrm>
        </p:grpSpPr>
        <p:sp>
          <p:nvSpPr>
            <p:cNvPr id="13" name="Freeform 13" descr="/home/claude/finance_ppt/icons/react_white.png"/>
            <p:cNvSpPr/>
            <p:nvPr/>
          </p:nvSpPr>
          <p:spPr>
            <a:xfrm>
              <a:off x="0" y="0"/>
              <a:ext cx="777240" cy="777240"/>
            </a:xfrm>
            <a:custGeom>
              <a:avLst/>
              <a:gdLst/>
              <a:ahLst/>
              <a:cxnLst/>
              <a:rect l="l" t="t" r="r" b="b"/>
              <a:pathLst>
                <a:path w="777240" h="777240">
                  <a:moveTo>
                    <a:pt x="0" y="0"/>
                  </a:moveTo>
                  <a:lnTo>
                    <a:pt x="777240" y="0"/>
                  </a:lnTo>
                  <a:lnTo>
                    <a:pt x="777240" y="777240"/>
                  </a:lnTo>
                  <a:lnTo>
                    <a:pt x="0" y="777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2626614" y="2839212"/>
            <a:ext cx="3291840" cy="548640"/>
            <a:chOff x="0" y="0"/>
            <a:chExt cx="4389120" cy="7315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389120" cy="731520"/>
            </a:xfrm>
            <a:custGeom>
              <a:avLst/>
              <a:gdLst/>
              <a:ahLst/>
              <a:cxnLst/>
              <a:rect l="l" t="t" r="r" b="b"/>
              <a:pathLst>
                <a:path w="4389120" h="7315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438912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626614" y="3429000"/>
            <a:ext cx="3291840" cy="548640"/>
            <a:chOff x="0" y="0"/>
            <a:chExt cx="4389120" cy="7315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389120" cy="731520"/>
            </a:xfrm>
            <a:custGeom>
              <a:avLst/>
              <a:gdLst/>
              <a:ahLst/>
              <a:cxnLst/>
              <a:rect l="l" t="t" r="r" b="b"/>
              <a:pathLst>
                <a:path w="4389120" h="7315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43891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C729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HTML + CSS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7094" y="2400300"/>
            <a:ext cx="5349240" cy="2125980"/>
            <a:chOff x="0" y="0"/>
            <a:chExt cx="7132320" cy="28346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132320" cy="2834640"/>
            </a:xfrm>
            <a:custGeom>
              <a:avLst/>
              <a:gdLst/>
              <a:ahLst/>
              <a:cxnLst/>
              <a:rect l="l" t="t" r="r" b="b"/>
              <a:pathLst>
                <a:path w="7132320" h="283464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967728" y="0"/>
                  </a:lnTo>
                  <a:cubicBezTo>
                    <a:pt x="7058660" y="0"/>
                    <a:pt x="7132320" y="73660"/>
                    <a:pt x="7132320" y="164592"/>
                  </a:cubicBezTo>
                  <a:lnTo>
                    <a:pt x="7132320" y="2670048"/>
                  </a:lnTo>
                  <a:cubicBezTo>
                    <a:pt x="7132320" y="2760980"/>
                    <a:pt x="7058660" y="2834640"/>
                    <a:pt x="6967728" y="2834640"/>
                  </a:cubicBezTo>
                  <a:lnTo>
                    <a:pt x="164592" y="2834640"/>
                  </a:lnTo>
                  <a:cubicBezTo>
                    <a:pt x="73660" y="2834640"/>
                    <a:pt x="0" y="2760980"/>
                    <a:pt x="0" y="2670048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6809994" y="2880360"/>
            <a:ext cx="1165860" cy="1165860"/>
            <a:chOff x="0" y="0"/>
            <a:chExt cx="1554480" cy="15544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0B3D59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7101459" y="3171825"/>
            <a:ext cx="582930" cy="582930"/>
            <a:chOff x="0" y="0"/>
            <a:chExt cx="777240" cy="777240"/>
          </a:xfrm>
        </p:grpSpPr>
        <p:sp>
          <p:nvSpPr>
            <p:cNvPr id="25" name="Freeform 25" descr="/home/claude/finance_ppt/icons/server_white.png"/>
            <p:cNvSpPr/>
            <p:nvPr/>
          </p:nvSpPr>
          <p:spPr>
            <a:xfrm>
              <a:off x="0" y="0"/>
              <a:ext cx="777240" cy="777240"/>
            </a:xfrm>
            <a:custGeom>
              <a:avLst/>
              <a:gdLst/>
              <a:ahLst/>
              <a:cxnLst/>
              <a:rect l="l" t="t" r="r" b="b"/>
              <a:pathLst>
                <a:path w="777240" h="777240">
                  <a:moveTo>
                    <a:pt x="0" y="0"/>
                  </a:moveTo>
                  <a:lnTo>
                    <a:pt x="777240" y="0"/>
                  </a:lnTo>
                  <a:lnTo>
                    <a:pt x="777240" y="777240"/>
                  </a:lnTo>
                  <a:lnTo>
                    <a:pt x="0" y="777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8250174" y="2839212"/>
            <a:ext cx="3291840" cy="548640"/>
            <a:chOff x="0" y="0"/>
            <a:chExt cx="4389120" cy="7315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389120" cy="731520"/>
            </a:xfrm>
            <a:custGeom>
              <a:avLst/>
              <a:gdLst/>
              <a:ahLst/>
              <a:cxnLst/>
              <a:rect l="l" t="t" r="r" b="b"/>
              <a:pathLst>
                <a:path w="4389120" h="7315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438912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250174" y="3429000"/>
            <a:ext cx="3291840" cy="548640"/>
            <a:chOff x="0" y="0"/>
            <a:chExt cx="4389120" cy="7315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389120" cy="731520"/>
            </a:xfrm>
            <a:custGeom>
              <a:avLst/>
              <a:gdLst/>
              <a:ahLst/>
              <a:cxnLst/>
              <a:rect l="l" t="t" r="r" b="b"/>
              <a:pathLst>
                <a:path w="4389120" h="7315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43891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C729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+ FastAPI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090654" y="2400300"/>
            <a:ext cx="5349240" cy="2125980"/>
            <a:chOff x="0" y="0"/>
            <a:chExt cx="7132320" cy="283464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132320" cy="2834640"/>
            </a:xfrm>
            <a:custGeom>
              <a:avLst/>
              <a:gdLst/>
              <a:ahLst/>
              <a:cxnLst/>
              <a:rect l="l" t="t" r="r" b="b"/>
              <a:pathLst>
                <a:path w="7132320" h="283464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967728" y="0"/>
                  </a:lnTo>
                  <a:cubicBezTo>
                    <a:pt x="7058660" y="0"/>
                    <a:pt x="7132320" y="73660"/>
                    <a:pt x="7132320" y="164592"/>
                  </a:cubicBezTo>
                  <a:lnTo>
                    <a:pt x="7132320" y="2670048"/>
                  </a:lnTo>
                  <a:cubicBezTo>
                    <a:pt x="7132320" y="2760980"/>
                    <a:pt x="7058660" y="2834640"/>
                    <a:pt x="6967728" y="2834640"/>
                  </a:cubicBezTo>
                  <a:lnTo>
                    <a:pt x="164592" y="2834640"/>
                  </a:lnTo>
                  <a:cubicBezTo>
                    <a:pt x="73660" y="2834640"/>
                    <a:pt x="0" y="2760980"/>
                    <a:pt x="0" y="2670048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2433554" y="2880360"/>
            <a:ext cx="1165860" cy="1165860"/>
            <a:chOff x="0" y="0"/>
            <a:chExt cx="1554480" cy="155448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0B3D59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2725019" y="3171825"/>
            <a:ext cx="582930" cy="582930"/>
            <a:chOff x="0" y="0"/>
            <a:chExt cx="777240" cy="777240"/>
          </a:xfrm>
        </p:grpSpPr>
        <p:sp>
          <p:nvSpPr>
            <p:cNvPr id="37" name="Freeform 37" descr="/home/claude/finance_ppt/icons/database_white.png"/>
            <p:cNvSpPr/>
            <p:nvPr/>
          </p:nvSpPr>
          <p:spPr>
            <a:xfrm>
              <a:off x="0" y="0"/>
              <a:ext cx="777240" cy="777240"/>
            </a:xfrm>
            <a:custGeom>
              <a:avLst/>
              <a:gdLst/>
              <a:ahLst/>
              <a:cxnLst/>
              <a:rect l="l" t="t" r="r" b="b"/>
              <a:pathLst>
                <a:path w="777240" h="777240">
                  <a:moveTo>
                    <a:pt x="0" y="0"/>
                  </a:moveTo>
                  <a:lnTo>
                    <a:pt x="777240" y="0"/>
                  </a:lnTo>
                  <a:lnTo>
                    <a:pt x="777240" y="777240"/>
                  </a:lnTo>
                  <a:lnTo>
                    <a:pt x="0" y="777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>
            <a:off x="13873734" y="2839212"/>
            <a:ext cx="3291840" cy="548640"/>
            <a:chOff x="0" y="0"/>
            <a:chExt cx="4389120" cy="73152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389120" cy="731520"/>
            </a:xfrm>
            <a:custGeom>
              <a:avLst/>
              <a:gdLst/>
              <a:ahLst/>
              <a:cxnLst/>
              <a:rect l="l" t="t" r="r" b="b"/>
              <a:pathLst>
                <a:path w="4389120" h="7315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438912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873734" y="3429000"/>
            <a:ext cx="3291840" cy="548640"/>
            <a:chOff x="0" y="0"/>
            <a:chExt cx="4389120" cy="7315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389120" cy="731520"/>
            </a:xfrm>
            <a:custGeom>
              <a:avLst/>
              <a:gdLst/>
              <a:ahLst/>
              <a:cxnLst/>
              <a:rect l="l" t="t" r="r" b="b"/>
              <a:pathLst>
                <a:path w="4389120" h="7315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43891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C729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MySQL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243834" y="4780026"/>
            <a:ext cx="5349240" cy="2125980"/>
            <a:chOff x="0" y="0"/>
            <a:chExt cx="7132320" cy="283464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7132320" cy="2834640"/>
            </a:xfrm>
            <a:custGeom>
              <a:avLst/>
              <a:gdLst/>
              <a:ahLst/>
              <a:cxnLst/>
              <a:rect l="l" t="t" r="r" b="b"/>
              <a:pathLst>
                <a:path w="7132320" h="283464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967728" y="0"/>
                  </a:lnTo>
                  <a:cubicBezTo>
                    <a:pt x="7058660" y="0"/>
                    <a:pt x="7132320" y="73660"/>
                    <a:pt x="7132320" y="164592"/>
                  </a:cubicBezTo>
                  <a:lnTo>
                    <a:pt x="7132320" y="2670048"/>
                  </a:lnTo>
                  <a:cubicBezTo>
                    <a:pt x="7132320" y="2760980"/>
                    <a:pt x="7058660" y="2834640"/>
                    <a:pt x="6967728" y="2834640"/>
                  </a:cubicBezTo>
                  <a:lnTo>
                    <a:pt x="164592" y="2834640"/>
                  </a:lnTo>
                  <a:cubicBezTo>
                    <a:pt x="73660" y="2834640"/>
                    <a:pt x="0" y="2760980"/>
                    <a:pt x="0" y="2670048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3586734" y="5260086"/>
            <a:ext cx="1165860" cy="1165860"/>
            <a:chOff x="0" y="0"/>
            <a:chExt cx="1554480" cy="155448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0B3D59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3878199" y="5551551"/>
            <a:ext cx="582930" cy="582930"/>
            <a:chOff x="0" y="0"/>
            <a:chExt cx="777240" cy="777240"/>
          </a:xfrm>
        </p:grpSpPr>
        <p:sp>
          <p:nvSpPr>
            <p:cNvPr id="49" name="Freeform 49" descr="/home/claude/finance_ppt/icons/brain_white.png"/>
            <p:cNvSpPr/>
            <p:nvPr/>
          </p:nvSpPr>
          <p:spPr>
            <a:xfrm>
              <a:off x="0" y="0"/>
              <a:ext cx="777240" cy="777240"/>
            </a:xfrm>
            <a:custGeom>
              <a:avLst/>
              <a:gdLst/>
              <a:ahLst/>
              <a:cxnLst/>
              <a:rect l="l" t="t" r="r" b="b"/>
              <a:pathLst>
                <a:path w="777240" h="777240">
                  <a:moveTo>
                    <a:pt x="0" y="0"/>
                  </a:moveTo>
                  <a:lnTo>
                    <a:pt x="777240" y="0"/>
                  </a:lnTo>
                  <a:lnTo>
                    <a:pt x="777240" y="777240"/>
                  </a:lnTo>
                  <a:lnTo>
                    <a:pt x="0" y="777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50" name="Group 50"/>
          <p:cNvGrpSpPr/>
          <p:nvPr/>
        </p:nvGrpSpPr>
        <p:grpSpPr>
          <a:xfrm>
            <a:off x="5026914" y="5218938"/>
            <a:ext cx="3291840" cy="548640"/>
            <a:chOff x="0" y="0"/>
            <a:chExt cx="4389120" cy="73152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389120" cy="731520"/>
            </a:xfrm>
            <a:custGeom>
              <a:avLst/>
              <a:gdLst/>
              <a:ahLst/>
              <a:cxnLst/>
              <a:rect l="l" t="t" r="r" b="b"/>
              <a:pathLst>
                <a:path w="4389120" h="7315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47625"/>
              <a:ext cx="438912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ML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026914" y="5808726"/>
            <a:ext cx="3291840" cy="548640"/>
            <a:chOff x="0" y="0"/>
            <a:chExt cx="4389120" cy="73152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389120" cy="731520"/>
            </a:xfrm>
            <a:custGeom>
              <a:avLst/>
              <a:gdLst/>
              <a:ahLst/>
              <a:cxnLst/>
              <a:rect l="l" t="t" r="r" b="b"/>
              <a:pathLst>
                <a:path w="4389120" h="7315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43891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C729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+ Scikit-learn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189720" y="4752594"/>
            <a:ext cx="5349240" cy="2125980"/>
            <a:chOff x="0" y="0"/>
            <a:chExt cx="7132320" cy="283464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7132320" cy="2834640"/>
            </a:xfrm>
            <a:custGeom>
              <a:avLst/>
              <a:gdLst/>
              <a:ahLst/>
              <a:cxnLst/>
              <a:rect l="l" t="t" r="r" b="b"/>
              <a:pathLst>
                <a:path w="7132320" h="283464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967728" y="0"/>
                  </a:lnTo>
                  <a:cubicBezTo>
                    <a:pt x="7058660" y="0"/>
                    <a:pt x="7132320" y="73660"/>
                    <a:pt x="7132320" y="164592"/>
                  </a:cubicBezTo>
                  <a:lnTo>
                    <a:pt x="7132320" y="2670048"/>
                  </a:lnTo>
                  <a:cubicBezTo>
                    <a:pt x="7132320" y="2760980"/>
                    <a:pt x="7058660" y="2834640"/>
                    <a:pt x="6967728" y="2834640"/>
                  </a:cubicBezTo>
                  <a:lnTo>
                    <a:pt x="164592" y="2834640"/>
                  </a:lnTo>
                  <a:cubicBezTo>
                    <a:pt x="73660" y="2834640"/>
                    <a:pt x="0" y="2760980"/>
                    <a:pt x="0" y="2670048"/>
                  </a:cubicBezTo>
                  <a:close/>
                </a:path>
              </a:pathLst>
            </a:custGeom>
            <a:solidFill>
              <a:srgbClr val="F4F8FA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9532620" y="5232654"/>
            <a:ext cx="1165860" cy="1165860"/>
            <a:chOff x="0" y="0"/>
            <a:chExt cx="1554480" cy="155448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0B3D59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9824085" y="5524119"/>
            <a:ext cx="582930" cy="582930"/>
            <a:chOff x="0" y="0"/>
            <a:chExt cx="777240" cy="777240"/>
          </a:xfrm>
        </p:grpSpPr>
        <p:sp>
          <p:nvSpPr>
            <p:cNvPr id="61" name="Freeform 61" descr="/home/claude/finance_ppt/icons/comments_white.png"/>
            <p:cNvSpPr/>
            <p:nvPr/>
          </p:nvSpPr>
          <p:spPr>
            <a:xfrm>
              <a:off x="0" y="0"/>
              <a:ext cx="777240" cy="777240"/>
            </a:xfrm>
            <a:custGeom>
              <a:avLst/>
              <a:gdLst/>
              <a:ahLst/>
              <a:cxnLst/>
              <a:rect l="l" t="t" r="r" b="b"/>
              <a:pathLst>
                <a:path w="777240" h="777240">
                  <a:moveTo>
                    <a:pt x="0" y="0"/>
                  </a:moveTo>
                  <a:lnTo>
                    <a:pt x="777240" y="0"/>
                  </a:lnTo>
                  <a:lnTo>
                    <a:pt x="777240" y="777240"/>
                  </a:lnTo>
                  <a:lnTo>
                    <a:pt x="0" y="777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62" name="Group 62"/>
          <p:cNvGrpSpPr/>
          <p:nvPr/>
        </p:nvGrpSpPr>
        <p:grpSpPr>
          <a:xfrm>
            <a:off x="10972800" y="5266944"/>
            <a:ext cx="3291840" cy="548640"/>
            <a:chOff x="0" y="0"/>
            <a:chExt cx="4389120" cy="73152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389120" cy="731520"/>
            </a:xfrm>
            <a:custGeom>
              <a:avLst/>
              <a:gdLst/>
              <a:ahLst/>
              <a:cxnLst/>
              <a:rect l="l" t="t" r="r" b="b"/>
              <a:pathLst>
                <a:path w="4389120" h="7315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47625"/>
              <a:ext cx="438912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 b="1">
                  <a:solidFill>
                    <a:srgbClr val="0B3D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LLM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0972800" y="5781294"/>
            <a:ext cx="3291840" cy="548640"/>
            <a:chOff x="0" y="0"/>
            <a:chExt cx="4389120" cy="73152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389120" cy="731520"/>
            </a:xfrm>
            <a:custGeom>
              <a:avLst/>
              <a:gdLst/>
              <a:ahLst/>
              <a:cxnLst/>
              <a:rect l="l" t="t" r="r" b="b"/>
              <a:pathLst>
                <a:path w="4389120" h="7315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43891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C729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LLM API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822960" y="8298180"/>
            <a:ext cx="16596360" cy="1440180"/>
            <a:chOff x="0" y="0"/>
            <a:chExt cx="22128480" cy="192024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2128479" cy="1920240"/>
            </a:xfrm>
            <a:custGeom>
              <a:avLst/>
              <a:gdLst/>
              <a:ahLst/>
              <a:cxnLst/>
              <a:rect l="l" t="t" r="r" b="b"/>
              <a:pathLst>
                <a:path w="22128479" h="192024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963887" y="0"/>
                  </a:lnTo>
                  <a:cubicBezTo>
                    <a:pt x="22054820" y="0"/>
                    <a:pt x="22128479" y="73660"/>
                    <a:pt x="22128479" y="164592"/>
                  </a:cubicBezTo>
                  <a:lnTo>
                    <a:pt x="22128479" y="1755648"/>
                  </a:lnTo>
                  <a:cubicBezTo>
                    <a:pt x="22128479" y="1846580"/>
                    <a:pt x="22054820" y="1920240"/>
                    <a:pt x="21963887" y="1920240"/>
                  </a:cubicBezTo>
                  <a:lnTo>
                    <a:pt x="164592" y="1920240"/>
                  </a:lnTo>
                  <a:cubicBezTo>
                    <a:pt x="73660" y="1920240"/>
                    <a:pt x="0" y="1846580"/>
                    <a:pt x="0" y="1755648"/>
                  </a:cubicBezTo>
                  <a:close/>
                </a:path>
              </a:pathLst>
            </a:custGeom>
            <a:solidFill>
              <a:srgbClr val="0B3D59"/>
            </a:solidFill>
          </p:spPr>
        </p:sp>
      </p:grpSp>
      <p:grpSp>
        <p:nvGrpSpPr>
          <p:cNvPr id="70" name="Group 70"/>
          <p:cNvGrpSpPr/>
          <p:nvPr/>
        </p:nvGrpSpPr>
        <p:grpSpPr>
          <a:xfrm>
            <a:off x="1165860" y="8503920"/>
            <a:ext cx="987552" cy="987552"/>
            <a:chOff x="0" y="0"/>
            <a:chExt cx="1316736" cy="1316736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316736" cy="1316736"/>
            </a:xfrm>
            <a:custGeom>
              <a:avLst/>
              <a:gdLst/>
              <a:ahLst/>
              <a:cxnLst/>
              <a:rect l="l" t="t" r="r" b="b"/>
              <a:pathLst>
                <a:path w="1316736" h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id="72" name="Group 72"/>
          <p:cNvGrpSpPr/>
          <p:nvPr/>
        </p:nvGrpSpPr>
        <p:grpSpPr>
          <a:xfrm>
            <a:off x="1402871" y="8740931"/>
            <a:ext cx="513531" cy="513531"/>
            <a:chOff x="0" y="0"/>
            <a:chExt cx="684708" cy="684708"/>
          </a:xfrm>
        </p:grpSpPr>
        <p:sp>
          <p:nvSpPr>
            <p:cNvPr id="73" name="Freeform 73" descr="/home/claude/finance_ppt/icons/piggy_white.png"/>
            <p:cNvSpPr/>
            <p:nvPr/>
          </p:nvSpPr>
          <p:spPr>
            <a:xfrm>
              <a:off x="0" y="0"/>
              <a:ext cx="684657" cy="684657"/>
            </a:xfrm>
            <a:custGeom>
              <a:avLst/>
              <a:gdLst/>
              <a:ahLst/>
              <a:cxnLst/>
              <a:rect l="l" t="t" r="r" b="b"/>
              <a:pathLst>
                <a:path w="684657" h="684657">
                  <a:moveTo>
                    <a:pt x="0" y="0"/>
                  </a:moveTo>
                  <a:lnTo>
                    <a:pt x="684657" y="0"/>
                  </a:lnTo>
                  <a:lnTo>
                    <a:pt x="684657" y="684657"/>
                  </a:lnTo>
                  <a:lnTo>
                    <a:pt x="0" y="684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-7" b="-7"/>
              </a:stretch>
            </a:blipFill>
          </p:spPr>
        </p:sp>
      </p:grpSp>
      <p:grpSp>
        <p:nvGrpSpPr>
          <p:cNvPr id="74" name="Group 74"/>
          <p:cNvGrpSpPr/>
          <p:nvPr/>
        </p:nvGrpSpPr>
        <p:grpSpPr>
          <a:xfrm>
            <a:off x="2400300" y="8298180"/>
            <a:ext cx="14676120" cy="1440180"/>
            <a:chOff x="0" y="0"/>
            <a:chExt cx="19568160" cy="192024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9568161" cy="1920240"/>
            </a:xfrm>
            <a:custGeom>
              <a:avLst/>
              <a:gdLst/>
              <a:ahLst/>
              <a:cxnLst/>
              <a:rect l="l" t="t" r="r" b="b"/>
              <a:pathLst>
                <a:path w="19568161" h="1920240">
                  <a:moveTo>
                    <a:pt x="0" y="0"/>
                  </a:moveTo>
                  <a:lnTo>
                    <a:pt x="19568161" y="0"/>
                  </a:lnTo>
                  <a:lnTo>
                    <a:pt x="19568161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8561" b="-148561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57150"/>
              <a:ext cx="19568160" cy="19773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7"/>
                </a:lnSpc>
              </a:pPr>
              <a:r>
                <a:rPr lang="en-US" sz="1650" b="1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 GOAL</a:t>
              </a:r>
            </a:p>
            <a:p>
              <a:pPr algn="l">
                <a:lnSpc>
                  <a:spcPts val="3001"/>
                </a:lnSpc>
              </a:pPr>
              <a:endParaRPr lang="en-US" sz="1650" b="1">
                <a:solidFill>
                  <a:srgbClr val="02C39A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  <a:p>
              <a:pPr algn="l">
                <a:lnSpc>
                  <a:spcPts val="3001"/>
                </a:lnSpc>
              </a:pPr>
              <a:r>
                <a:rPr lang="en-US" sz="2175" i="1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Don't just show users where their money went — show them where their current spending could lead.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7323308" y="9669780"/>
            <a:ext cx="548640" cy="411480"/>
            <a:chOff x="0" y="0"/>
            <a:chExt cx="731520" cy="54864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731520" cy="548640"/>
            </a:xfrm>
            <a:custGeom>
              <a:avLst/>
              <a:gdLst/>
              <a:ahLst/>
              <a:cxnLst/>
              <a:rect l="l" t="t" r="r" b="b"/>
              <a:pathLst>
                <a:path w="731520" h="54864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84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637794" y="9738360"/>
            <a:ext cx="8229600" cy="411480"/>
            <a:chOff x="0" y="0"/>
            <a:chExt cx="10972800" cy="54864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84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PERSONAL FINANCE EXPENSE ANALYZER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983" y="-714636"/>
            <a:ext cx="15773400" cy="3989394"/>
            <a:chOff x="0" y="0"/>
            <a:chExt cx="21031200" cy="53191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5319192"/>
            </a:xfrm>
            <a:custGeom>
              <a:avLst/>
              <a:gdLst/>
              <a:ahLst/>
              <a:cxnLst/>
              <a:rect l="l" t="t" r="r" b="b"/>
              <a:pathLst>
                <a:path w="21031200" h="5319192">
                  <a:moveTo>
                    <a:pt x="0" y="0"/>
                  </a:moveTo>
                  <a:lnTo>
                    <a:pt x="21031200" y="0"/>
                  </a:lnTo>
                  <a:lnTo>
                    <a:pt x="21031200" y="5319192"/>
                  </a:lnTo>
                  <a:lnTo>
                    <a:pt x="0" y="5319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007" b="10925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031200" cy="53382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0B3D5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Survey, Gap &amp; Proposed Framework</a:t>
              </a:r>
            </a:p>
            <a:p>
              <a:pPr algn="l">
                <a:lnSpc>
                  <a:spcPts val="5400"/>
                </a:lnSpc>
              </a:pPr>
              <a:endParaRPr lang="en-US" sz="4500" b="1">
                <a:solidFill>
                  <a:srgbClr val="0B3D59"/>
                </a:solidFill>
                <a:latin typeface="Cambria Bold"/>
                <a:ea typeface="Cambria Bold"/>
                <a:cs typeface="Cambria Bold"/>
                <a:sym typeface="Cambria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4983" y="253417"/>
            <a:ext cx="13716000" cy="480060"/>
            <a:chOff x="0" y="0"/>
            <a:chExt cx="18288000" cy="6400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288000" cy="640080"/>
            </a:xfrm>
            <a:custGeom>
              <a:avLst/>
              <a:gdLst/>
              <a:ahLst/>
              <a:cxnLst/>
              <a:rect l="l" t="t" r="r" b="b"/>
              <a:pathLst>
                <a:path w="18288000" h="64008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15" b="-50671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8288000" cy="6877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spc="299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Literature Survey &amp; Research Proposal</a:t>
              </a:r>
            </a:p>
          </p:txBody>
        </p:sp>
      </p:grpSp>
      <p:graphicFrame>
        <p:nvGraphicFramePr>
          <p:cNvPr id="8" name="Object 8"/>
          <p:cNvGraphicFramePr/>
          <p:nvPr/>
        </p:nvGraphicFramePr>
        <p:xfrm>
          <a:off x="514983" y="1503085"/>
          <a:ext cx="9429750" cy="314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Worksheet" r:id="rId4" imgW="11315700" imgH="5029200" progId="Excel.Sheet.12">
                  <p:embed/>
                </p:oleObj>
              </mc:Choice>
              <mc:Fallback>
                <p:oleObj name="Worksheet" r:id="rId4" imgW="11315700" imgH="5029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4983" y="1503085"/>
                        <a:ext cx="9429750" cy="3143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514983" y="7066188"/>
            <a:ext cx="16744317" cy="1559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35"/>
              </a:lnSpc>
              <a:spcBef>
                <a:spcPct val="0"/>
              </a:spcBef>
            </a:pPr>
            <a:r>
              <a:rPr lang="en-US" sz="2199" b="1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RESEARCH GAP</a:t>
            </a:r>
          </a:p>
          <a:p>
            <a:pPr algn="just">
              <a:lnSpc>
                <a:spcPts val="3035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Existing research addresses categorization, forecasting, budgeting and anomaly detection, but there is scope for an integrated system that predicts overspending and estimates its potential impact on savings.</a:t>
            </a:r>
          </a:p>
          <a:p>
            <a:pPr algn="just">
              <a:lnSpc>
                <a:spcPts val="3035"/>
              </a:lnSpc>
              <a:spcBef>
                <a:spcPct val="0"/>
              </a:spcBef>
            </a:pPr>
            <a:endParaRPr lang="en-US" sz="2199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14983" y="8539896"/>
            <a:ext cx="17447865" cy="797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5"/>
              </a:lnSpc>
              <a:spcBef>
                <a:spcPct val="0"/>
              </a:spcBef>
            </a:pPr>
            <a:r>
              <a:rPr lang="en-US" sz="2199" b="1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PROPOSED APPROACH</a:t>
            </a:r>
          </a:p>
          <a:p>
            <a:pPr algn="l">
              <a:lnSpc>
                <a:spcPts val="3035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Transaction → Expense Type Classification → Spending Analysis → Future Prediction → Overspending Detection → Savings Impact → Recommendation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7332833" y="9669780"/>
            <a:ext cx="548640" cy="411480"/>
            <a:chOff x="0" y="0"/>
            <a:chExt cx="731520" cy="5486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31520" cy="548640"/>
            </a:xfrm>
            <a:custGeom>
              <a:avLst/>
              <a:gdLst/>
              <a:ahLst/>
              <a:cxnLst/>
              <a:rect l="l" t="t" r="r" b="b"/>
              <a:pathLst>
                <a:path w="731520" h="54864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3152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6B84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4983" y="9669780"/>
            <a:ext cx="8229600" cy="411480"/>
            <a:chOff x="0" y="0"/>
            <a:chExt cx="10972800" cy="5486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B84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PERSONAL FINANCE EXPENSE ANALYZER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67360" y="-2468880"/>
            <a:ext cx="7132320" cy="7132320"/>
            <a:chOff x="0" y="0"/>
            <a:chExt cx="9509760" cy="95097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09760" cy="9509760"/>
            </a:xfrm>
            <a:custGeom>
              <a:avLst/>
              <a:gdLst/>
              <a:ahLst/>
              <a:cxnLst/>
              <a:rect l="l" t="t" r="r" b="b"/>
              <a:pathLst>
                <a:path w="9509760" h="9509760">
                  <a:moveTo>
                    <a:pt x="0" y="4754880"/>
                  </a:moveTo>
                  <a:cubicBezTo>
                    <a:pt x="0" y="2128774"/>
                    <a:pt x="2128774" y="0"/>
                    <a:pt x="4754880" y="0"/>
                  </a:cubicBezTo>
                  <a:cubicBezTo>
                    <a:pt x="7380986" y="0"/>
                    <a:pt x="9509760" y="2128774"/>
                    <a:pt x="9509760" y="4754880"/>
                  </a:cubicBezTo>
                  <a:cubicBezTo>
                    <a:pt x="9509760" y="7380986"/>
                    <a:pt x="7380986" y="9509760"/>
                    <a:pt x="4754880" y="9509760"/>
                  </a:cubicBezTo>
                  <a:cubicBezTo>
                    <a:pt x="2128774" y="9509760"/>
                    <a:pt x="0" y="7380986"/>
                    <a:pt x="0" y="4754880"/>
                  </a:cubicBezTo>
                  <a:close/>
                </a:path>
              </a:pathLst>
            </a:custGeom>
            <a:solidFill>
              <a:srgbClr val="1C7293">
                <a:alpha val="4706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361920" y="6309360"/>
            <a:ext cx="4663440" cy="4663440"/>
            <a:chOff x="0" y="0"/>
            <a:chExt cx="6217920" cy="62179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217920" cy="6217920"/>
            </a:xfrm>
            <a:custGeom>
              <a:avLst/>
              <a:gdLst/>
              <a:ahLst/>
              <a:cxnLst/>
              <a:rect l="l" t="t" r="r" b="b"/>
              <a:pathLst>
                <a:path w="6217920" h="6217920">
                  <a:moveTo>
                    <a:pt x="0" y="3108960"/>
                  </a:moveTo>
                  <a:cubicBezTo>
                    <a:pt x="0" y="1391920"/>
                    <a:pt x="1391920" y="0"/>
                    <a:pt x="3108960" y="0"/>
                  </a:cubicBezTo>
                  <a:cubicBezTo>
                    <a:pt x="4826000" y="0"/>
                    <a:pt x="6217920" y="1391920"/>
                    <a:pt x="6217920" y="3108960"/>
                  </a:cubicBezTo>
                  <a:cubicBezTo>
                    <a:pt x="6217920" y="4826000"/>
                    <a:pt x="4826000" y="6217920"/>
                    <a:pt x="3108960" y="6217920"/>
                  </a:cubicBezTo>
                  <a:cubicBezTo>
                    <a:pt x="1391920" y="6217920"/>
                    <a:pt x="0" y="4826000"/>
                    <a:pt x="0" y="3108960"/>
                  </a:cubicBezTo>
                  <a:close/>
                </a:path>
              </a:pathLst>
            </a:custGeom>
            <a:solidFill>
              <a:srgbClr val="02C39A">
                <a:alpha val="3137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-1920240" y="7406640"/>
            <a:ext cx="4937760" cy="4937760"/>
            <a:chOff x="0" y="0"/>
            <a:chExt cx="6583680" cy="65836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583680" cy="6583680"/>
            </a:xfrm>
            <a:custGeom>
              <a:avLst/>
              <a:gdLst/>
              <a:ahLst/>
              <a:cxnLst/>
              <a:rect l="l" t="t" r="r" b="b"/>
              <a:pathLst>
                <a:path w="6583680" h="6583680">
                  <a:moveTo>
                    <a:pt x="0" y="3291840"/>
                  </a:moveTo>
                  <a:cubicBezTo>
                    <a:pt x="0" y="1473835"/>
                    <a:pt x="1473835" y="0"/>
                    <a:pt x="3291840" y="0"/>
                  </a:cubicBezTo>
                  <a:cubicBezTo>
                    <a:pt x="5109845" y="0"/>
                    <a:pt x="6583680" y="1473835"/>
                    <a:pt x="6583680" y="3291840"/>
                  </a:cubicBezTo>
                  <a:cubicBezTo>
                    <a:pt x="6583680" y="5109845"/>
                    <a:pt x="5109845" y="6583680"/>
                    <a:pt x="3291840" y="6583680"/>
                  </a:cubicBezTo>
                  <a:cubicBezTo>
                    <a:pt x="1473835" y="6583680"/>
                    <a:pt x="0" y="5109845"/>
                    <a:pt x="0" y="3291840"/>
                  </a:cubicBezTo>
                  <a:close/>
                </a:path>
              </a:pathLst>
            </a:custGeom>
            <a:solidFill>
              <a:srgbClr val="1C7293">
                <a:alpha val="1961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34924" y="2492085"/>
            <a:ext cx="14401800" cy="4617030"/>
            <a:chOff x="0" y="0"/>
            <a:chExt cx="19202400" cy="61560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202400" cy="6156040"/>
            </a:xfrm>
            <a:custGeom>
              <a:avLst/>
              <a:gdLst/>
              <a:ahLst/>
              <a:cxnLst/>
              <a:rect l="l" t="t" r="r" b="b"/>
              <a:pathLst>
                <a:path w="19202400" h="6156040">
                  <a:moveTo>
                    <a:pt x="0" y="0"/>
                  </a:moveTo>
                  <a:lnTo>
                    <a:pt x="19202400" y="0"/>
                  </a:lnTo>
                  <a:lnTo>
                    <a:pt x="19202400" y="6156040"/>
                  </a:lnTo>
                  <a:lnTo>
                    <a:pt x="0" y="6156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469" b="19910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9202400" cy="62131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938"/>
                </a:lnSpc>
              </a:pPr>
              <a:r>
                <a:rPr lang="en-US" sz="63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THANK YOU..........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716375" y="7855839"/>
            <a:ext cx="1303020" cy="1402461"/>
            <a:chOff x="0" y="0"/>
            <a:chExt cx="1737360" cy="18699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37360" cy="1869948"/>
            </a:xfrm>
            <a:custGeom>
              <a:avLst/>
              <a:gdLst/>
              <a:ahLst/>
              <a:cxnLst/>
              <a:rect l="l" t="t" r="r" b="b"/>
              <a:pathLst>
                <a:path w="1737360" h="1869948">
                  <a:moveTo>
                    <a:pt x="0" y="934974"/>
                  </a:moveTo>
                  <a:cubicBezTo>
                    <a:pt x="0" y="418551"/>
                    <a:pt x="388874" y="0"/>
                    <a:pt x="868680" y="0"/>
                  </a:cubicBezTo>
                  <a:cubicBezTo>
                    <a:pt x="1348486" y="0"/>
                    <a:pt x="1737360" y="418551"/>
                    <a:pt x="1737360" y="934974"/>
                  </a:cubicBezTo>
                  <a:cubicBezTo>
                    <a:pt x="1737360" y="1451397"/>
                    <a:pt x="1348486" y="1869948"/>
                    <a:pt x="868680" y="1869948"/>
                  </a:cubicBezTo>
                  <a:cubicBezTo>
                    <a:pt x="388874" y="1869948"/>
                    <a:pt x="0" y="1451397"/>
                    <a:pt x="0" y="934974"/>
                  </a:cubicBezTo>
                  <a:close/>
                </a:path>
              </a:pathLst>
            </a:custGeom>
            <a:solidFill>
              <a:srgbClr val="FFFFFF">
                <a:alpha val="1176"/>
              </a:srgbClr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7042130" y="8231314"/>
            <a:ext cx="651510" cy="651510"/>
            <a:chOff x="0" y="0"/>
            <a:chExt cx="868680" cy="868680"/>
          </a:xfrm>
        </p:grpSpPr>
        <p:sp>
          <p:nvSpPr>
            <p:cNvPr id="14" name="Freeform 14" descr="/home/claude/finance_ppt/icons/wallet_mint.png"/>
            <p:cNvSpPr/>
            <p:nvPr/>
          </p:nvSpPr>
          <p:spPr>
            <a:xfrm>
              <a:off x="0" y="0"/>
              <a:ext cx="868680" cy="868680"/>
            </a:xfrm>
            <a:custGeom>
              <a:avLst/>
              <a:gdLst/>
              <a:ahLst/>
              <a:cxnLst/>
              <a:rect l="l" t="t" r="r" b="b"/>
              <a:pathLst>
                <a:path w="868680" h="868680">
                  <a:moveTo>
                    <a:pt x="0" y="0"/>
                  </a:moveTo>
                  <a:lnTo>
                    <a:pt x="868680" y="0"/>
                  </a:lnTo>
                  <a:lnTo>
                    <a:pt x="868680" y="868680"/>
                  </a:lnTo>
                  <a:lnTo>
                    <a:pt x="0" y="868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413707" y="8457593"/>
            <a:ext cx="1229986" cy="1229986"/>
            <a:chOff x="0" y="0"/>
            <a:chExt cx="1133856" cy="11338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0B3D59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670797" y="8714683"/>
            <a:ext cx="715806" cy="715806"/>
            <a:chOff x="0" y="0"/>
            <a:chExt cx="498894" cy="498894"/>
          </a:xfrm>
        </p:grpSpPr>
        <p:sp>
          <p:nvSpPr>
            <p:cNvPr id="18" name="Freeform 18" descr="/home/claude/finance_ppt/icons/piggy_white.png"/>
            <p:cNvSpPr/>
            <p:nvPr/>
          </p:nvSpPr>
          <p:spPr>
            <a:xfrm>
              <a:off x="0" y="0"/>
              <a:ext cx="498856" cy="498856"/>
            </a:xfrm>
            <a:custGeom>
              <a:avLst/>
              <a:gdLst/>
              <a:ahLst/>
              <a:cxnLst/>
              <a:rect l="l" t="t" r="r" b="b"/>
              <a:pathLst>
                <a:path w="498856" h="498856">
                  <a:moveTo>
                    <a:pt x="0" y="0"/>
                  </a:moveTo>
                  <a:lnTo>
                    <a:pt x="498856" y="0"/>
                  </a:lnTo>
                  <a:lnTo>
                    <a:pt x="498856" y="498856"/>
                  </a:lnTo>
                  <a:lnTo>
                    <a:pt x="0" y="498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7" b="-7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5745968" y="1217295"/>
            <a:ext cx="987552" cy="987552"/>
            <a:chOff x="0" y="0"/>
            <a:chExt cx="1316736" cy="131673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16736" cy="1316736"/>
            </a:xfrm>
            <a:custGeom>
              <a:avLst/>
              <a:gdLst/>
              <a:ahLst/>
              <a:cxnLst/>
              <a:rect l="l" t="t" r="r" b="b"/>
              <a:pathLst>
                <a:path w="1316736" h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5982979" y="1454306"/>
            <a:ext cx="513531" cy="513531"/>
            <a:chOff x="0" y="0"/>
            <a:chExt cx="684708" cy="684708"/>
          </a:xfrm>
        </p:grpSpPr>
        <p:sp>
          <p:nvSpPr>
            <p:cNvPr id="22" name="Freeform 22" descr="/home/claude/finance_ppt/icons/piggy_white.png"/>
            <p:cNvSpPr/>
            <p:nvPr/>
          </p:nvSpPr>
          <p:spPr>
            <a:xfrm>
              <a:off x="0" y="0"/>
              <a:ext cx="684657" cy="684657"/>
            </a:xfrm>
            <a:custGeom>
              <a:avLst/>
              <a:gdLst/>
              <a:ahLst/>
              <a:cxnLst/>
              <a:rect l="l" t="t" r="r" b="b"/>
              <a:pathLst>
                <a:path w="684657" h="684657">
                  <a:moveTo>
                    <a:pt x="0" y="0"/>
                  </a:moveTo>
                  <a:lnTo>
                    <a:pt x="684657" y="0"/>
                  </a:lnTo>
                  <a:lnTo>
                    <a:pt x="684657" y="684657"/>
                  </a:lnTo>
                  <a:lnTo>
                    <a:pt x="0" y="684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7" b="-7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800</Words>
  <Application>Microsoft Office PowerPoint</Application>
  <PresentationFormat>Custom</PresentationFormat>
  <Paragraphs>234</Paragraphs>
  <Slides>11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Calibri (MS)</vt:lpstr>
      <vt:lpstr>Calibri</vt:lpstr>
      <vt:lpstr>Arial</vt:lpstr>
      <vt:lpstr>Calibri (MS) Italics</vt:lpstr>
      <vt:lpstr>Calibri (MS) Bold</vt:lpstr>
      <vt:lpstr>Cambria Bold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Personal_Finance_Expense_Analyzer (2).pptx</dc:title>
  <dc:creator>Spandan</dc:creator>
  <cp:lastModifiedBy>Spandan</cp:lastModifiedBy>
  <cp:revision>2</cp:revision>
  <dcterms:created xsi:type="dcterms:W3CDTF">2006-08-16T00:00:00Z</dcterms:created>
  <dcterms:modified xsi:type="dcterms:W3CDTF">2026-09-21T10:30:56Z</dcterms:modified>
  <dc:identifier>DAHUiqCp67g</dc:identifier>
</cp:coreProperties>
</file>